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11f10bf824249" /><Relationship Type="http://schemas.openxmlformats.org/officeDocument/2006/relationships/extended-properties" Target="/docProps/app.xml" Id="R4d242554ac0442f7" /><Relationship Type="http://schemas.openxmlformats.org/officeDocument/2006/relationships/officeDocument" Target="/ppt/presentation.xml" Id="R8f8072b00d7e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4f61d4b08f4058"/>
  </p:sldMasterIdLst>
  <p:notesMasterIdLst>
    <p:notesMasterId xmlns:r="http://schemas.openxmlformats.org/officeDocument/2006/relationships" r:id="R471f0722d88748d3"/>
  </p:notesMasterIdLst>
  <p:sldIdLst>
    <p:sldId xmlns:r="http://schemas.openxmlformats.org/officeDocument/2006/relationships" id="256" r:id="Rcf5a9873d77f4bbb"/>
    <p:sldId xmlns:r="http://schemas.openxmlformats.org/officeDocument/2006/relationships" id="257" r:id="R0589b2b728ef473e"/>
    <p:sldId xmlns:r="http://schemas.openxmlformats.org/officeDocument/2006/relationships" id="258" r:id="R6a4f7944673a4192"/>
    <p:sldId xmlns:r="http://schemas.openxmlformats.org/officeDocument/2006/relationships" id="259" r:id="Re3e9d7c611ef49f4"/>
    <p:sldId xmlns:r="http://schemas.openxmlformats.org/officeDocument/2006/relationships" id="260" r:id="Rbb48cc296eaa4299"/>
    <p:sldId xmlns:r="http://schemas.openxmlformats.org/officeDocument/2006/relationships" id="261" r:id="Ra7d8466b6a794a89"/>
    <p:sldId xmlns:r="http://schemas.openxmlformats.org/officeDocument/2006/relationships" id="262" r:id="R683d14017a2241a9"/>
    <p:sldId xmlns:r="http://schemas.openxmlformats.org/officeDocument/2006/relationships" id="263" r:id="Rdf160b3663c246c6"/>
    <p:sldId xmlns:r="http://schemas.openxmlformats.org/officeDocument/2006/relationships" id="264" r:id="R80c35351f6e640f9"/>
    <p:sldId xmlns:r="http://schemas.openxmlformats.org/officeDocument/2006/relationships" id="265" r:id="R6e0ae9aded31421d"/>
    <p:sldId xmlns:r="http://schemas.openxmlformats.org/officeDocument/2006/relationships" id="266" r:id="R130e3e4e729a4fde"/>
    <p:sldId xmlns:r="http://schemas.openxmlformats.org/officeDocument/2006/relationships" id="267" r:id="Rdc464779ce6f472f"/>
    <p:sldId xmlns:r="http://schemas.openxmlformats.org/officeDocument/2006/relationships" id="268" r:id="R2f058680198f49a8"/>
    <p:sldId xmlns:r="http://schemas.openxmlformats.org/officeDocument/2006/relationships" id="269" r:id="Ra284a9e65a9b43a3"/>
    <p:sldId xmlns:r="http://schemas.openxmlformats.org/officeDocument/2006/relationships" id="270" r:id="R1611e9d07c314ec5"/>
    <p:sldId xmlns:r="http://schemas.openxmlformats.org/officeDocument/2006/relationships" id="271" r:id="R19357ecb456d4fa1"/>
    <p:sldId xmlns:r="http://schemas.openxmlformats.org/officeDocument/2006/relationships" id="272" r:id="R4c579f2862b84ac7"/>
    <p:sldId xmlns:r="http://schemas.openxmlformats.org/officeDocument/2006/relationships" id="273" r:id="R238dfcef6df04a02"/>
    <p:sldId xmlns:r="http://schemas.openxmlformats.org/officeDocument/2006/relationships" id="274" r:id="R78d2f3b7063c4c30"/>
    <p:sldId xmlns:r="http://schemas.openxmlformats.org/officeDocument/2006/relationships" id="275" r:id="Re2a24e28f2ae4a7f"/>
    <p:sldId xmlns:r="http://schemas.openxmlformats.org/officeDocument/2006/relationships" id="276" r:id="R19eb5ef7c01f40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bbe5686394143" /><Relationship Type="http://schemas.openxmlformats.org/officeDocument/2006/relationships/slideMaster" Target="/ppt/slideMasters/slideMaster1.xml" Id="R174f61d4b08f4058" /><Relationship Type="http://schemas.openxmlformats.org/officeDocument/2006/relationships/notesMaster" Target="/ppt/notesMasters/notesMaster1.xml" Id="R471f0722d88748d3" /><Relationship Type="http://schemas.openxmlformats.org/officeDocument/2006/relationships/presProps" Target="/ppt/presProps.xml" Id="R8eb35d5ea59f4567" /><Relationship Type="http://schemas.openxmlformats.org/officeDocument/2006/relationships/tableStyles" Target="/ppt/tableStyles.xml" Id="R7326818d7f954ae3" /><Relationship Type="http://schemas.openxmlformats.org/officeDocument/2006/relationships/slide" Target="/ppt/slides/slide1.xml" Id="Rcf5a9873d77f4bbb" /><Relationship Type="http://schemas.openxmlformats.org/officeDocument/2006/relationships/slide" Target="/ppt/slides/slide2.xml" Id="R0589b2b728ef473e" /><Relationship Type="http://schemas.openxmlformats.org/officeDocument/2006/relationships/slide" Target="/ppt/slides/slide3.xml" Id="R6a4f7944673a4192" /><Relationship Type="http://schemas.openxmlformats.org/officeDocument/2006/relationships/slide" Target="/ppt/slides/slide4.xml" Id="Re3e9d7c611ef49f4" /><Relationship Type="http://schemas.openxmlformats.org/officeDocument/2006/relationships/slide" Target="/ppt/slides/slide5.xml" Id="Rbb48cc296eaa4299" /><Relationship Type="http://schemas.openxmlformats.org/officeDocument/2006/relationships/slide" Target="/ppt/slides/slide6.xml" Id="Ra7d8466b6a794a89" /><Relationship Type="http://schemas.openxmlformats.org/officeDocument/2006/relationships/slide" Target="/ppt/slides/slide7.xml" Id="R683d14017a2241a9" /><Relationship Type="http://schemas.openxmlformats.org/officeDocument/2006/relationships/slide" Target="/ppt/slides/slide8.xml" Id="Rdf160b3663c246c6" /><Relationship Type="http://schemas.openxmlformats.org/officeDocument/2006/relationships/slide" Target="/ppt/slides/slide9.xml" Id="R80c35351f6e640f9" /><Relationship Type="http://schemas.openxmlformats.org/officeDocument/2006/relationships/slide" Target="/ppt/slides/slide10.xml" Id="R6e0ae9aded31421d" /><Relationship Type="http://schemas.openxmlformats.org/officeDocument/2006/relationships/slide" Target="/ppt/slides/slide11.xml" Id="R130e3e4e729a4fde" /><Relationship Type="http://schemas.openxmlformats.org/officeDocument/2006/relationships/slide" Target="/ppt/slides/slide12.xml" Id="Rdc464779ce6f472f" /><Relationship Type="http://schemas.openxmlformats.org/officeDocument/2006/relationships/slide" Target="/ppt/slides/slide13.xml" Id="R2f058680198f49a8" /><Relationship Type="http://schemas.openxmlformats.org/officeDocument/2006/relationships/slide" Target="/ppt/slides/slide14.xml" Id="Ra284a9e65a9b43a3" /><Relationship Type="http://schemas.openxmlformats.org/officeDocument/2006/relationships/slide" Target="/ppt/slides/slide15.xml" Id="R1611e9d07c314ec5" /><Relationship Type="http://schemas.openxmlformats.org/officeDocument/2006/relationships/slide" Target="/ppt/slides/slide16.xml" Id="R19357ecb456d4fa1" /><Relationship Type="http://schemas.openxmlformats.org/officeDocument/2006/relationships/slide" Target="/ppt/slides/slide17.xml" Id="R4c579f2862b84ac7" /><Relationship Type="http://schemas.openxmlformats.org/officeDocument/2006/relationships/slide" Target="/ppt/slides/slide18.xml" Id="R238dfcef6df04a02" /><Relationship Type="http://schemas.openxmlformats.org/officeDocument/2006/relationships/slide" Target="/ppt/slides/slide19.xml" Id="R78d2f3b7063c4c30" /><Relationship Type="http://schemas.openxmlformats.org/officeDocument/2006/relationships/slide" Target="/ppt/slides/slide20.xml" Id="Re2a24e28f2ae4a7f" /><Relationship Type="http://schemas.openxmlformats.org/officeDocument/2006/relationships/slide" Target="/ppt/slides/slide21.xml" Id="R19eb5ef7c01f40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5224e6ff94e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6bcdfc555d415e" /><Relationship Type="http://schemas.openxmlformats.org/officeDocument/2006/relationships/notesMaster" Target="/ppt/notesMasters/notesMaster1.xml" Id="R21f0e00e886345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ab97d6557a4e29" /><Relationship Type="http://schemas.openxmlformats.org/officeDocument/2006/relationships/notesMaster" Target="/ppt/notesMasters/notesMaster1.xml" Id="R936bb0760b3944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7d812f104e4740" /><Relationship Type="http://schemas.openxmlformats.org/officeDocument/2006/relationships/notesMaster" Target="/ppt/notesMasters/notesMaster1.xml" Id="R4d8782cf94104e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4be8e46dae4aeb" /><Relationship Type="http://schemas.openxmlformats.org/officeDocument/2006/relationships/notesMaster" Target="/ppt/notesMasters/notesMaster1.xml" Id="R997bbb933da445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4cc9664134265" /><Relationship Type="http://schemas.openxmlformats.org/officeDocument/2006/relationships/notesMaster" Target="/ppt/notesMasters/notesMaster1.xml" Id="Rbee0dd8a53c04c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2e9a1a4f5640f7" /><Relationship Type="http://schemas.openxmlformats.org/officeDocument/2006/relationships/notesMaster" Target="/ppt/notesMasters/notesMaster1.xml" Id="R6ba10ef416d445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e3de58d5064a82" /><Relationship Type="http://schemas.openxmlformats.org/officeDocument/2006/relationships/notesMaster" Target="/ppt/notesMasters/notesMaster1.xml" Id="R49d0606343d247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d238a2fcf482b" /><Relationship Type="http://schemas.openxmlformats.org/officeDocument/2006/relationships/notesMaster" Target="/ppt/notesMasters/notesMaster1.xml" Id="R8ee2a3aee7544f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89554354c74ab4" /><Relationship Type="http://schemas.openxmlformats.org/officeDocument/2006/relationships/notesMaster" Target="/ppt/notesMasters/notesMaster1.xml" Id="R836db53a34a14d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35ee9b3ee14340" /><Relationship Type="http://schemas.openxmlformats.org/officeDocument/2006/relationships/notesMaster" Target="/ppt/notesMasters/notesMaster1.xml" Id="Rac36db90c17a48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8dcb60366c4ce8" /><Relationship Type="http://schemas.openxmlformats.org/officeDocument/2006/relationships/notesMaster" Target="/ppt/notesMasters/notesMaster1.xml" Id="R1d8c50a142e24b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69b2d4f19d4f70" /><Relationship Type="http://schemas.openxmlformats.org/officeDocument/2006/relationships/notesMaster" Target="/ppt/notesMasters/notesMaster1.xml" Id="R982dcc95119241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7bd68bc6644f17" /><Relationship Type="http://schemas.openxmlformats.org/officeDocument/2006/relationships/notesMaster" Target="/ppt/notesMasters/notesMaster1.xml" Id="R1bc268be7e6144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f215f4f11d49d4" /><Relationship Type="http://schemas.openxmlformats.org/officeDocument/2006/relationships/notesMaster" Target="/ppt/notesMasters/notesMaster1.xml" Id="Rcf15af40f49442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5a137f7b4d41cc" /><Relationship Type="http://schemas.openxmlformats.org/officeDocument/2006/relationships/notesMaster" Target="/ppt/notesMasters/notesMaster1.xml" Id="Rbb090d65f0b349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6259f1d51a48e0" /><Relationship Type="http://schemas.openxmlformats.org/officeDocument/2006/relationships/notesMaster" Target="/ppt/notesMasters/notesMaster1.xml" Id="R1a7639bd79ef48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289ce142d54f6d" /><Relationship Type="http://schemas.openxmlformats.org/officeDocument/2006/relationships/notesMaster" Target="/ppt/notesMasters/notesMaster1.xml" Id="R25783287d84246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e27a3b5e174469" /><Relationship Type="http://schemas.openxmlformats.org/officeDocument/2006/relationships/notesMaster" Target="/ppt/notesMasters/notesMaster1.xml" Id="R01f2bbec72cf47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eea76320ca40d5" /><Relationship Type="http://schemas.openxmlformats.org/officeDocument/2006/relationships/notesMaster" Target="/ppt/notesMasters/notesMaster1.xml" Id="Re59f4b1332204b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b6d6d5b53cf4587" /><Relationship Type="http://schemas.openxmlformats.org/officeDocument/2006/relationships/notesMaster" Target="/ppt/notesMasters/notesMaster1.xml" Id="R7fafdf29742e4f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deceaa065643b7" /><Relationship Type="http://schemas.openxmlformats.org/officeDocument/2006/relationships/notesMaster" Target="/ppt/notesMasters/notesMaster1.xml" Id="R68b261a598d2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Korea University crimson cover. Generated visual depicts battery, turbofan, and fatigue-crack prognostics domains.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Strict extrapolation includes temporal, unseen-unit, and support-remote condition shifts.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illustration of non-identification outside support: multiple plausible futures diverge after the observation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research questions: prior admissibility, safe execution, and assurance.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literec_study taxonomy including symbolic/equation networks, monotonic constraints, PINN, OOD, and uncertainty literature.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 ladder and executors.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Integrated Compile Execute Assure framework.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PAE typed observation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PAE routes among strong prior, PP weak prior, and prior-off pathways.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paper boundary and central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architecture and structural guarantees.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support-adaptive dual-scale saturation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 protocol: strict extrapolation axis, internal validation selection, and pooled/unit/seed/bound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PP final adaptive dual-scale replay. Sunwoda .934, RWTH .842, MICH .751 pooled R² 5-seed means. Retrospective development evidence, not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PAE falsification study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Assurance layer is currently PP-specific. General cross-executor interface is planned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roadmap and claim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domain-to-prior mapping. Paris-law routing requires stress-intensity variables and justified regime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Claim-evidence matrix separating current PP evidence from future PAE and dissertation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 slide for iterative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86f33ed274e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40873110d9432f" /><Relationship Type="http://schemas.openxmlformats.org/officeDocument/2006/relationships/slideLayout" Target="/ppt/slideLayouts/slideLayout1.xml" Id="R98a015dd262547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015dd262547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43e3b347492f" /><Relationship Type="http://schemas.openxmlformats.org/officeDocument/2006/relationships/image" Target="/ppt/media/image.png" Id="R36199f8441c24434" /><Relationship Type="http://schemas.openxmlformats.org/officeDocument/2006/relationships/notesSlide" Target="/ppt/notesSlides/notesSlide1.xml" Id="Rcc2f50d3ae29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c385677ab4ea0" /><Relationship Type="http://schemas.openxmlformats.org/officeDocument/2006/relationships/notesSlide" Target="/ppt/notesSlides/notesSlide2.xml" Id="R5ab0e250aaa24a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0fef37e4745da" /><Relationship Type="http://schemas.openxmlformats.org/officeDocument/2006/relationships/notesSlide" Target="/ppt/notesSlides/notesSlide3.xml" Id="Rde2b459f420142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ea9796b0d462b" /><Relationship Type="http://schemas.openxmlformats.org/officeDocument/2006/relationships/image" Target="/ppt/media/image2.png" Id="Re0fb02d456354841" /><Relationship Type="http://schemas.openxmlformats.org/officeDocument/2006/relationships/notesSlide" Target="/ppt/notesSlides/notesSlide4.xml" Id="R18aa0c119b44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dad57721a4f2c" /><Relationship Type="http://schemas.openxmlformats.org/officeDocument/2006/relationships/notesSlide" Target="/ppt/notesSlides/notesSlide5.xml" Id="R07c222bf6bc842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242d12f4d4b91" /><Relationship Type="http://schemas.openxmlformats.org/officeDocument/2006/relationships/notesSlide" Target="/ppt/notesSlides/notesSlide6.xml" Id="Rf49edbfa324a44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9dc8afc544c0" /><Relationship Type="http://schemas.openxmlformats.org/officeDocument/2006/relationships/notesSlide" Target="/ppt/notesSlides/notesSlide7.xml" Id="R87110d390f9347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40256d6ef40c8" /><Relationship Type="http://schemas.openxmlformats.org/officeDocument/2006/relationships/notesSlide" Target="/ppt/notesSlides/notesSlide8.xml" Id="R1855f6d0355048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cde997ad44cc0" /><Relationship Type="http://schemas.openxmlformats.org/officeDocument/2006/relationships/notesSlide" Target="/ppt/notesSlides/notesSlide9.xml" Id="Rd99a09579ef746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8181f65074bab" /><Relationship Type="http://schemas.openxmlformats.org/officeDocument/2006/relationships/notesSlide" Target="/ppt/notesSlides/notesSlide10.xml" Id="R8b09f732cd644c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406572af482a" /><Relationship Type="http://schemas.openxmlformats.org/officeDocument/2006/relationships/notesSlide" Target="/ppt/notesSlides/notesSlide11.xml" Id="Ra58b83b95ef947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83bb58d2844a2" /><Relationship Type="http://schemas.openxmlformats.org/officeDocument/2006/relationships/notesSlide" Target="/ppt/notesSlides/notesSlide12.xml" Id="R91b4b7bbdc9944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5afa013b84f2d" /><Relationship Type="http://schemas.openxmlformats.org/officeDocument/2006/relationships/notesSlide" Target="/ppt/notesSlides/notesSlide13.xml" Id="R44193568921e48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8d2f236d24523" /><Relationship Type="http://schemas.openxmlformats.org/officeDocument/2006/relationships/notesSlide" Target="/ppt/notesSlides/notesSlide14.xml" Id="R4ab7eb34609d46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05c15c5da4eb2" /><Relationship Type="http://schemas.openxmlformats.org/officeDocument/2006/relationships/notesSlide" Target="/ppt/notesSlides/notesSlide15.xml" Id="Rf23a5addf10145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b4f793eda4103" /><Relationship Type="http://schemas.openxmlformats.org/officeDocument/2006/relationships/notesSlide" Target="/ppt/notesSlides/notesSlide16.xml" Id="R05832e504a8440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494fbe1ef4c6f" /><Relationship Type="http://schemas.openxmlformats.org/officeDocument/2006/relationships/notesSlide" Target="/ppt/notesSlides/notesSlide17.xml" Id="R3a0b25fa502f42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539e00f404b9b" /><Relationship Type="http://schemas.openxmlformats.org/officeDocument/2006/relationships/notesSlide" Target="/ppt/notesSlides/notesSlide18.xml" Id="R6c268be3851448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2054a56fe49fa" /><Relationship Type="http://schemas.openxmlformats.org/officeDocument/2006/relationships/notesSlide" Target="/ppt/notesSlides/notesSlide19.xml" Id="R9ab7eeb1a21842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575521aa5480f" /><Relationship Type="http://schemas.openxmlformats.org/officeDocument/2006/relationships/notesSlide" Target="/ppt/notesSlides/notesSlide20.xml" Id="R826aeacade5c4a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bd9982cd74e86" /><Relationship Type="http://schemas.openxmlformats.org/officeDocument/2006/relationships/notesSlide" Target="/ppt/notesSlides/notesSlide21.xml" Id="Rd2722a5cff5e4b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B00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BFE2B-0315-4A08-8192-7AD1658E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99f8441c24434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5A826-1C1F-46A8-B573-225A6A7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0B1E2-DB26-4388-87C4-EA985D84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524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9EC1B-AC4B-4936-9CD3-BEF7CC1C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B088D-F2BC-41FC-8294-4B4965D8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KOREA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01175-3134-475A-B342-7440158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71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ASSUMPTION-AWARE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2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EXTRAPOLATION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416CA-E599-48FF-AD04-1917040E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DDE6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F5DDE6"/>
                </a:solidFill>
                <a:latin typeface="AppleGothic"/>
                <a:ea typeface="AppleGothic"/>
                <a:cs typeface="AppleGothic"/>
              </a:rPr>
              <a:t>PP와 PAE를 연결하는 외삽 연구 프레임워크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3F162-F106-47D8-8787-825785E6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BCCB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E8BCCB"/>
                </a:solidFill>
                <a:latin typeface="AppleGothic"/>
                <a:ea typeface="AppleGothic"/>
                <a:cs typeface="AppleGothic"/>
              </a:rPr>
              <a:t>RUL · 열화 · 균열성장 · 상태예측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CAF42-B2C6-4EA6-91DB-D05AD1B8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Smart Production Systems Lab.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박사과정 연구 프로그램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43AD4-66BC-43EE-A0CB-D443E38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88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E8BCCB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E8BCCB"/>
                </a:solidFill>
                <a:latin typeface="AppleGothic"/>
                <a:ea typeface="AppleGothic"/>
                <a:cs typeface="AppleGothic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04692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5EBC1-E9BF-4AE0-87A8-2FBF4E05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CADA0-EFC6-4C0A-983C-A4FB3D5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AD77F-7354-4B86-8C77-7653110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6256D-D4E8-48DD-B711-40F8B7C1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발표의 큰 그림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905B7-9176-488D-8ACA-732CC873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외삽의 정의에서 PP의 현재 단계와 PAE의 다음 단계까지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BE559-71DB-4EB3-9D42-853F8852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956B7-20CF-4EC3-B15E-9AD9F40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3C8A9-6DB7-46B0-A6D0-76D6C787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E5EDE-3AAA-4608-A6F5-B1100FAD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데이터 밖의 함수는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데이터만으로 정해지지 않는다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706B9-440D-4539-853C-59624884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2476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A715A-DE77-4DA2-BE9F-340FA53B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21C03-3E41-4CA5-88F8-9F859E07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3D103-C1F0-4202-B897-2660E214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해결 방향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2B6F8-0661-49E9-BE27-2E38B5B1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관측 가능한 지식에 맞춰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prior의 강도를 정한다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476FE-EE34-47AE-8431-C11901F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81300"/>
            <a:ext cx="2476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207C4-8181-440C-9ECE-8B4F73DF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646BC-99D9-4B7F-8EE3-1084EC5E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71D09-CA85-4092-B165-A3D5847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현재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BF389-10EB-43EA-B80A-74CF7182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PP로 약한 prior의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안전한 실행을 보였다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1D586-05F2-4502-9248-97D66999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81300"/>
            <a:ext cx="2476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61EEC-25F1-4C20-AD3C-87D666F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333625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13E1C-8986-439D-A823-46D7521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33362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E781F-CC7F-4DB8-84CA-E130AF3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526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다음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BEFEC-C08C-45E0-AEE2-053DB79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33675"/>
            <a:ext cx="1952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PAE로 prior 선택과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prior-off routing을 검증한다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0F538-2899-42A7-B8BC-E2E1A57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핵심 메시지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1C966-ECD8-4096-95CA-DD941083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2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외삽은 모델 하나를 고르는 문제가 아니라, 어떤 가정을 어디까지 허용하고 실패를 어떻게 알릴지 설계하는 문제다.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507DC-918D-4F55-99DC-0427F09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F4CA9-2A7C-4FAF-985E-EF791101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222E6-DFC8-4958-AF79-B7C89B5C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4642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E6E2B-8815-4878-8A56-600A1EF1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C93C0-BFB2-46ED-9898-A74FEDC7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BC540-B4F0-433F-80E3-19917AC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C5794-9A1A-461E-AD70-07954E76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외삽의 실제 배포 상황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88896-6204-4E1B-9AEE-9910520B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시간·개체·조건의 support가 달라질 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45C0C-8505-4CB2-9E32-0103313D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학습 데이터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13E5A-DAB3-4F61-8435-2D7C67E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52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배포 대상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F27B5-1592-4EB5-AC4F-7D28064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D0296-D562-423B-BD4E-E1603381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2B7E9-1007-43AF-99B2-25741617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DF50C-B832-47C9-BDD6-D73A6FA4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3AC70-02A5-4121-8047-733D6D26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8F946-011A-4E2B-A679-6F31CCB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83F8C-CF1B-42E7-A112-011BD4D5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2920C-65D1-4571-BD87-8E1BBAA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1E137-7A95-4097-94C5-BF25F0D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33350" cy="3238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713FF-F4BE-4A21-A0DF-055AF316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76575"/>
            <a:ext cx="3810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B1C78-ABBF-4271-A69E-78D9E137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24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학습 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58951-1B55-4E9F-9221-C9A77343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57550"/>
            <a:ext cx="1762125" cy="3619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7FFD8-245C-4FE1-9DDE-AAD6C365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14750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미래 시간 외삽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2C035-0DC6-4082-A539-3939A68A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000375" cy="971550"/>
          </a:xfrm>
          <a:prstGeom xmlns:a="http://schemas.openxmlformats.org/drawingml/2006/main" prst="roundRect">
            <a:avLst>
              <a:gd name="adj" fmla="val 784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A147B-7F6D-4516-8EC2-A778D3C8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00037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54E42-F71D-42DB-9385-AF50AC95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새로운 unit / engine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F49A9-E4BF-43CF-BFF8-14659192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학습에서 관측하지 못한 개체의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열화 궤적과 남은수명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00F5A-E70B-4B0F-87E2-0D236A0B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000375" cy="971550"/>
          </a:xfrm>
          <a:prstGeom xmlns:a="http://schemas.openxmlformats.org/drawingml/2006/main" prst="roundRect">
            <a:avLst>
              <a:gd name="adj" fmla="val 784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B2EBC-74FD-4A17-9AD1-896CF7CB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00037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27858-04AF-4AAE-8CAF-36F82F58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72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새 조건 / regime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03A8F-491D-4F0E-B9E9-485FE006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530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운전 조건 또는 열화 관계가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달라진 조합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A8DBB-BE26-4548-B93C-2E22AB7E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000375" cy="971550"/>
          </a:xfrm>
          <a:prstGeom xmlns:a="http://schemas.openxmlformats.org/drawingml/2006/main" prst="roundRect">
            <a:avLst>
              <a:gd name="adj" fmla="val 784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8CD28-4AAA-40A6-802D-E52934FD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000375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E75F8-6144-46A5-BBD3-0D32F909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지원 범위 밖 조합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EEA973-08B0-49FB-9CCD-05B80D68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30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666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convex hull·support shell 밖의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상태에서 예측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187DF-7907-4C52-9065-CA810407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DAC27-CEAB-48B1-B8D8-9D008CF0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41445C-7099-4420-80FD-90BA1F01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5504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E3424-3BD7-4CF8-80AE-9D44F106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3E0FE-298B-43C3-8D39-BA5EC670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7CAD1-3E54-4C17-BF85-7A4ADF09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D1FF2-1871-432C-B0BB-000CC31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왜 외삽이 어려운가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BF346-AA32-4E05-9A7C-0B7942C6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같은 학습 데이터도 support 밖에서는 여러 미래를 허용한다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9CC07-4AED-4636-A18B-04E325A7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81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83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관측 구간 안에서는 여러 함수가 비슷하게 맞는다.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6FD5F-1E20-4B48-A566-9F54234C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경계를 넘는 순간 모델의 구조와 loss가 가진</a:t>
            </a:r>
          </a:p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암묵적 가정이 예측 방향을 결정한다.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8091B-3144-4D6C-9A2F-27151978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EA40F-3EFF-4D79-89C5-69B5464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410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일반 NN residual은 밖에서 계속 커질 수 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9430C-AA43-41A9-B08C-F7746C6B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84FC5-86E7-4139-9D43-7EEEDF1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410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강한 수식 prior는 틀렸을 때 편향을 고정한다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AAD58-69C6-404E-9DCE-287768F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40348-C6FE-4014-A157-CC96682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410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높은 ID 성능만으로 외삽을 정당화하기 어렵다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b02d456354841"/>
          <a:stretch xmlns:a="http://schemas.openxmlformats.org/drawingml/2006/main"/>
        </p:blipFill>
        <p:spPr>
          <a:xfrm xmlns:a="http://schemas.openxmlformats.org/drawingml/2006/main">
            <a:off x="5334000" y="1686785"/>
            <a:ext cx="6191250" cy="348443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15425-2184-4D0D-B1CC-72BEC41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7632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9EF01-B2B9-4255-A054-B3E4AABD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10239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11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B002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8B0029"/>
                </a:solidFill>
                <a:latin typeface="AppleGothic"/>
                <a:ea typeface="AppleGothic"/>
                <a:cs typeface="AppleGothic"/>
              </a:rPr>
              <a:t>연구의 출발점: 현재 관측으로 어느 prior까지 정당화할 수 있는지 먼저 결정한다.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67DBE-2728-405F-AB98-5C2C892B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B9B38-AD09-4647-BEDE-0521E30A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5F322-D93D-4C18-8AD3-D40CE0A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7710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768F1-639E-4C77-99F1-91A9DF21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E376C-7201-420A-87C0-76FBB77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566C4-607E-421A-88CF-F30C2011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032B9-3790-46DC-9988-8817544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연구 질문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EB15F-E260-46B9-8934-753AFA3C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가정을 명시하고 관리하는 외삽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18721-91CE-4C4A-B616-DE90E83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관측된 데이터와 도메인 지식으로 정당화할 수 있는 가정만 사용해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FFF0C-1872-4158-A8AA-C836AD99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외삽을 안전하게 실행하고, 근거가 부족하면 불확실성 또는 보류로 보고할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49A2B-6CEE-4AA3-A54A-742F8FDF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2809875" cy="1314450"/>
          </a:xfrm>
          <a:prstGeom xmlns:a="http://schemas.openxmlformats.org/drawingml/2006/main" prst="roundRect">
            <a:avLst>
              <a:gd name="adj" fmla="val 5797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22683-BAAD-48FD-9513-33AB0263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5821A-9FDA-4FBD-8CD7-82206839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005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45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무엇을 prior로 써도 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EEBD2-C315-4566-841C-D4215D9A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PAE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F1789-B82A-4E88-984D-F08DD33B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809875" cy="1314450"/>
          </a:xfrm>
          <a:prstGeom xmlns:a="http://schemas.openxmlformats.org/drawingml/2006/main" prst="roundRect">
            <a:avLst>
              <a:gd name="adj" fmla="val 5797"/>
            </a:avLst>
          </a:prstGeom>
          <a:ln xmlns:a="http://schemas.openxmlformats.org/drawingml/2006/main" w="9525">
            <a:solidFill>
              <a:srgbClr val="2A9D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587FE-48B2-41A8-B09B-7BE4FEE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5EF59-D228-41A3-82A8-0554C935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005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3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허용된 prior를 NN과 어떻게 결합하는가?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F4022-BD3E-45BC-9340-484F79A4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031DD-2298-48BF-9DDF-DAA66676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2809875" cy="1314450"/>
          </a:xfrm>
          <a:prstGeom xmlns:a="http://schemas.openxmlformats.org/drawingml/2006/main" prst="roundRect">
            <a:avLst>
              <a:gd name="adj" fmla="val 5797"/>
            </a:avLst>
          </a:prstGeom>
          <a:ln xmlns:a="http://schemas.openxmlformats.org/drawingml/2006/main" w="9525">
            <a:solidFill>
              <a:srgbClr val="163A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D5438-847A-4617-BD11-65EDCE76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76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6E4C1-B21A-4737-84FF-53CE4E0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005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3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어떤 외삽 예측을 믿거나 보류할 것인가?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3C178-89B8-48F7-BAF9-1071549F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Assurance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A44E4-5891-4406-981F-E3F2D165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E9DF8-4273-4545-B312-6A3A91AF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011054-D1B7-4A02-BA02-C5719C3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4103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F96BC-0124-4DB7-8878-4239CA11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8F1BF-4FE6-4E5D-9B39-4D702A73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3588D-AF31-4BE1-A991-C8C4C65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A194-E590-4577-B6BA-5BA2380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문헌에서 얻는 출발점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69DE5-4869-4EE8-B850-BBCB477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외삽을 지탱하는 것은 데이터보다 가정이다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2DBB7-CB5C-4424-B878-76FB80EE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66F26-0B5F-4757-A0F5-9B730A0D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Symbolic / equation 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3AD06-017F-4A59-93BE-2A09951B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알고 있는 식·연산 구조를 표현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65A03-ECEB-4126-B0DF-00FE7C9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알고 있는 수식 관계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55D40-7B9D-4D15-B0CB-A80755BE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098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8D138-2F59-4978-9F9A-C18F08B1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FA5BB-56FC-40F0-89C5-F47D05E2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Monotone / constrained NN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33FC6-BC80-48EC-A032-E4466262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방향·부호·순서를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29BAD-A93F-40A0-8939-44627700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질적 구조 지식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3E184-B9F0-4E51-8B2E-2DF2DFA7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39889-7D70-40AA-83BA-6CDD4E82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F6A57-BA0F-4811-947A-8BBB7F0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PINN / physics hybrid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9CA00-86BC-4B91-A7BC-90FD446A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지배식·보존식을 결합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F82DC-6EBE-4F73-B8F4-0F9AB005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정량 물리 지식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1EA83-42E1-4414-9C51-DCF68A48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265FE-575D-4BFF-AB3D-F335274D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BEB66-D84E-481B-BCE0-EAEE77BA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OOD / uncertainty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147E7-2E7B-4243-83C4-B8BC33F1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52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shift와 위험을 진단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FC823-7E46-48BE-ABB8-2278CDF7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환경·불확실성 정보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7D6CC-5050-45C0-ABFE-A7BCDFCF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9585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EF9C2-5D24-44C0-8AF0-AA62482F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본 연구의 빈칸: prior의 존재 여부와 강도를 관측 계약에 따라 선택하고, 약한 prior를 안정적으로 실행하는 통합 절차.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BFCFE-77FC-42E1-A694-A6E2C36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EBD99-B272-4DCB-A437-1589279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6AA5B-D0DC-4F9D-9768-25F095D4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895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509B8B-F9D0-403F-BE7B-7548E1C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C0D2F-B6DF-4522-BCBB-158557BA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EE153-F1E9-41C1-8EAC-4A4860A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81D24-0A0E-4E1D-8C40-2251606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Prior ladder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1834F-F158-4256-9AA9-4BC1DA90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수식은 가장 강한 prior일 뿐이다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09FE4-B466-48B0-9964-8DEBFB61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D10D5-D303-4278-A11C-CF5ECECC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954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1FA58-D190-4839-8153-EB7BAE1B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097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구조 지식 없음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61E45-9A36-494B-B11F-5F7A826F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383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prior-off NN + uncertainty / abstain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8C9BD-E713-4547-81C8-62655E96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044C4-796C-4DA4-BAC6-7737FD8C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FDF01-88F2-40D7-8F4A-FA2D9A55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47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E9D15-E6FB-4858-8676-04C46A00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경계·범위·이력·support 거리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0CC08-2CA9-46A5-93BA-882892BF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PP: weak-prior executor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3D582-453C-4D3D-8E20-C93348B0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53089-ECA8-4EAD-8375-AE18DB1A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92E48-2A77-4550-B995-2B3802EC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004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91888-0CC4-4EE0-B7AB-41668972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147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단조 방향·부호·부분 순서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FD74E-812C-4867-A3FD-88A3A595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433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constrained predictor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81014-7410-475C-829D-3BF183B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71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3D360-41DE-470E-BABD-60D308B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38161-0769-424D-A03A-95A04BB1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529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579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700FD-125B-4012-A4B2-ADB34CA3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428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관계식·보존식·동역학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E7A5A-DE01-444B-A176-F2C4ACD6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958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physics / equation residual hybrid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470DE-CA4F-4136-BFF6-524F385D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10319-E0D1-4495-B029-511A867D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626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안전장치: 근거 없는 도메인에서는 임의의 식을 넣지 않고 prior-off 경로를 선택한다.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67D04-0204-41C8-AEA4-AEA43C4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FB384-55F6-417E-8C80-C049B583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F5973-0CF4-4106-8E1C-17E43B6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4052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CCD6E-E6FC-4BCD-8898-20A076CD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B5319-60AA-40B9-AAB9-12CE7AA1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013A1-9F1B-4896-9F19-79952CC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099A8-904D-4E9B-8907-12F90AF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가정 인지형 외삽 프레임워크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8B68E-19FC-4C24-AB94-6404E33F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Compile → Execute → Assure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6CB30-4407-44DC-A320-8F2DF900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B5FAA-CE4B-4C9E-A754-56ABFB5C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67F25-238F-4EBE-92B5-C5FCC8B7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1. Compile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FE8DC-C525-4470-9711-8779AB2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관측 계약에서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허용 prior를 컴파일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7E38E-33D3-478B-8773-5788814E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44890-ACD5-4A9B-B5E1-9C3260FA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4DC0D-7DD0-4D26-AAB8-497A4A63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2. Execute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6E9E0-BCA4-4B76-85DA-8654577E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선택 prior에 맞는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예측기를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67C47-3F22-4DBA-BA01-1D1AC86F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238125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87CB5-E1C9-41E4-A332-AAE5CC66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ED7A8-2A4D-499E-AE75-E3E50218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3. Assure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46231-6624-4E4E-A9B1-536698F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거리·오차·불확실성으로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신뢰도와 보류를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91347-94DB-44DD-BF66-2C3D1EC5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4953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B9A25-355C-43A2-92C8-CA1DE374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09850"/>
            <a:ext cx="4953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C2AF0-7A31-4583-BEBC-B718ACBE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66484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1FE65-A4CC-4FC6-B990-33834EA0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14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출력 contract  |  point prediction  ·  selected prior level  ·  applicability signal  ·  predict / abstain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AE4F0-C47D-46B5-9304-085E4802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7F4F9-96A5-4CF5-A2BF-66195421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EDB68-18EF-4B09-B28E-40F5AE81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1790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CB7D17-5EB9-4655-BD91-0B9CF144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5A102-F17C-4C45-9DC4-DA4E8338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46DF3-659B-4C07-AD29-8DD12A6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CDFDB-B9DA-4C9A-B943-F7092FA9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PAE의 관측 계약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D99D4-7436-47DF-80CF-D3AFD861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모델이 볼 수 있는 것과 알 수 있는 것을 명시한다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7D577-B94C-4BE4-99EE-C102112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53F77-CC7D-41E7-A073-1F99E20D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8BB97-37D9-4683-9FB5-A51F3D2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covariates, 시간 순서, window, 결측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2BCBC-79E6-481B-8E7D-4CD3FC26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14F4F-41A9-451C-99FE-62DB90AC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075AB-728C-4BA9-9935-E8029BCA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622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라벨·경계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05DA0-FB9A-4DB7-93C0-CA15FAE8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RUL, EOL, range, training/deployment 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19F5C-86F3-4AD7-937E-8ACC48FF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C5EC0-B9BE-4118-B09F-6610A91F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13FC9-EFFD-47CC-AB3B-04B78065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메타데이터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68EE4-1EE2-44C3-AD1C-30280A1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unit, domain, 조건, regime indicator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00C77-4AB7-417D-9FE3-8ACAB4B3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2902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1CD57-38B7-4C9C-91B9-3272071C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C0485-DF8D-4F6B-B0C9-540DF965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29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도메인 지식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07AC0-1F6C-4235-82C1-82DB89A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909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단조 방향, 부호, 관계식, 보존식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E8315-65A7-4BC7-B1CF-3ECF8D62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1F51A-B6C4-4142-910A-B4E37E2D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D48C3-04CF-49EC-8118-CBDEE9CD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배포 shift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E3827-9E8D-4F02-8E98-A5C790C4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시간 끝단, unseen unit, condition/hull shift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F6531-578C-4FAC-BADB-E163CD66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5D54BB-5880-4EFA-886E-D7CF254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이 계약은 test label이나 미래에 접근할 수 없는 정보를 prior 선택에 쓰지 못하게 막는다.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9A0F4-73A5-4F00-8FBF-155444AF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C9A05-D435-42DC-918C-EA4E92F9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D11364-3F63-48EB-8069-52820C4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7542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EE36A-83A2-4DBF-9760-F7C8DC3D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DEECE-DFCC-4A23-BE00-F863F24C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870C2-4C10-4A95-8121-9B808A13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83EB2-6107-415F-90B1-E412D343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 routing 원리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4BB04-0F79-4C2A-8791-C7DB81F6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prior의 강도와 executor를 함께 선택한다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717AA-280F-4D9B-A338-37831E1D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C2213-E2AF-4A22-9056-C5596348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571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E06A6-A001-4560-AB93-4EB797E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관측 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A613A-0337-48B5-86AB-D15287C7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어떤 정보가 실제로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available한가?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D3779-E149-426B-AB3D-720C7359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47625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4AA12-854D-4272-B19F-703522BE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28800"/>
            <a:ext cx="2857500" cy="1581150"/>
          </a:xfrm>
          <a:prstGeom xmlns:a="http://schemas.openxmlformats.org/drawingml/2006/main" prst="roundRect">
            <a:avLst>
              <a:gd name="adj" fmla="val 4819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0379F-CF0C-456D-870D-64EBF8C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Admissible prior?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D1DBA-DA23-450C-981D-21DC73D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336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강한 식 / 질적 제약 /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약한 경계·이력 /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EAB10-AA02-4B1D-8902-1B2B9B61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419350"/>
            <a:ext cx="47625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48D64-F326-4D43-8CAD-2F122B77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E8C7E-8D4B-4FDF-AAF9-9E0F5F29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26C78-6763-4FAE-9EAF-4716F08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강한 prior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B159E-C779-4D84-B42F-3BBD0C1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2476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physics/equation hybrid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A3A5C-D58E-4208-A1C7-125D302C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1F238-59D2-48D3-BCD5-9032CCA1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2647D-686C-42F4-9AA3-6F4451DD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8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약한 prior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409B8-4A60-41B3-B659-B3EB0458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9925"/>
            <a:ext cx="2476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PP executor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3AFD4-F168-410C-A200-55EFA51C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75B56-D980-4A2B-A33F-F5A7073C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CA102-0DE4-4014-A019-970CD4DF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prior 없음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2464F-2EAB-4FB9-85AA-1F9165A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10050"/>
            <a:ext cx="2476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prior-off + UQ/abstain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0C7A8-F95F-4589-A921-C8827315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6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PAE는 참 물리식을 “발견”한다고 주장하지 않는다. 관측이 뒷받침하는 선택지만 허용한다.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FC8E18-6650-41BB-8825-A4AE87A1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AF2604-8FF5-4595-A796-D4E6427E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5A0BE2-A8F1-4263-A70F-52F12E4A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6109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F8E6B-5B10-44EF-A7DE-6AF19044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5CDB7-CFFE-4A1F-8118-114BC52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31A59-FDC4-4936-B937-F138C1BE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A6093-0466-478D-BDBC-CDEC6D5A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PP: 첫 번째 독립 논문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33703-D23C-41A6-8316-4153E028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주어진 약한 prior를 외삽에서 안전하게 실행할 수 있는가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18986-D29F-4B65-AD65-2AED89A7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Input prior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8948C-35C4-4467-9A67-2B627BE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EOL 경계 · 양수성 · 이력 · 약한 affine tail · support 거리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07BD9-A37D-4CC3-83BE-DD087B9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9018F-C074-473C-8AD2-8FA85796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PP의 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E8CA3-EC06-4D8B-A6D6-559DF7FD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NN residual이 boundary와 tail을 뒤집지 않도록 표현력과 외삽 영향 범위를 분리한다.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46040-9624-4D32-869E-DA6EDDA8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971550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006E1-9B0C-49BA-ACA3-1C7C73EA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81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논문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FDD43-0887-4F46-B277-03B4F5E1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6247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선언된 weak prior 아래에서 strict out-of-support RUL extrapolation을 위한 support-adaptive prior-residual executor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157CD-0361-48CD-B827-D3B84AEF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1D352-35B3-49AB-8468-9958BA9F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6B147-96A0-4D27-B723-4EAAF16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607851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34B82-87B5-4D11-B09E-6459C42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4C32F-F793-471A-AE0E-8B8E27DC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6A433-5A4A-437B-876E-AAF578C3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934BC-F25B-4176-A62E-FA0C905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E5DFC-E5CC-4A54-866A-92DAE4E7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고정된 tail과 bounded residual을 결합한다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39CBB-1241-4C41-B4B0-5FD306A4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668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ŷ = m · softplus( ℓ(z) + cθ(z)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B7707-BB18-45BA-A00D-171F1D5B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C87C2-891E-4D33-885F-952D84CB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A607C-22E1-468A-A850-17636BDA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ℓ(z)  frozen affine 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68FE4-85A7-4A60-A60D-3BB63264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외삽 방향의 기본 경향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16EF9-26FB-4C77-AAFC-3393F8A8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86125"/>
            <a:ext cx="381000" cy="257175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00A1B-DB9D-421F-B2E9-D3DFC979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54008-4DCE-4B6E-8EDA-DF1D16AB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728E1-96C4-4FCB-A528-B698AB76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71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cθ(z)  history residual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A8D36-D44D-473B-BB9B-86B398F9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support 내부의 세밀한 보정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BB589-2E0A-42CD-86E8-9269BEB9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86125"/>
            <a:ext cx="381000" cy="257175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C0788-A63C-49AB-B8A0-4EE3357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7F997-975D-4A8B-8C79-B111366C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28575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1646C-27FE-4D2E-9B51-6536707B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m  boundary margin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20DD1-19DE-4322-A764-04AE4076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EOL과 residual envelope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C722F-6EAB-4644-8F2A-5DD21BFF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구조적 보장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65D26-592F-4D10-9F6A-5627B9E8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09509-ED0E-4347-958F-38D28164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19112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EOL 경계 보존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396CE-B7AD-4E14-877B-1B9DB982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1FA5F-4D5B-4A81-BBCA-A5323277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9112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residual 크기 제한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0A286-0CC7-430B-97B7-52D8F2C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A29E8-B9A0-474C-B312-08A7AB7F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911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 거리 기반 완화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DB364-5AB8-4411-9C9E-4F2BC48F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EB130E-A79A-4293-8873-81ACF1D6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D8BA28-2A0B-4C79-B133-798777C5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34872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AC5CD-0900-40E7-8042-BBE799FC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08113-59A0-4166-9834-491D3BD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05273-0DA6-4451-9FEB-72ABABE0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67A39-D8F4-4430-AD6A-436F39E2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Support-adaptive residual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F989-3B57-4F02-B032-341EBE0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가까운 곳에서는 세밀하게, 먼 곳에서는 포화시킨다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8C5F1-7728-4F53-8ED5-BD66228F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42215-3A4C-4D39-9CD6-1505D302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06BA0-64D8-4140-A936-CEAE825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residual 영향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1BE62-243F-43CC-A958-3D75969D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006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support 거리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E2EBC-D868-41FD-98D0-045DDEA3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59638-E751-4A05-BE6E-C9B7D5A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91A09-2C8B-4C09-A1DD-DCB6AD48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CC336-AF1C-4F97-8D7D-A3763E1B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11E96-DD46-4E49-A0D0-8A6EE14D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238B4-1157-4310-A833-7915937A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72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06A30-1BFD-435E-8BD3-FBCF78DD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38100" cy="28575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2EC32-8156-41A3-BF06-16DF82EF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전환점 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116EA-F7F3-41F9-8904-6DA468D4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9D8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79343-5927-4DEC-89D1-AA98B5D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26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4DCF4-4F58-431D-8F26-1303CE06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26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2FE72-87E3-422C-B051-DA844662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작은 Bₗ: history 보정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3D347-99A7-4800-94E1-1C6FBF4A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큰 Bₕ: bounded saturation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9F623-0A11-4B8E-9621-47177EE1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81625"/>
            <a:ext cx="9334500" cy="495300"/>
          </a:xfrm>
          <a:prstGeom xmlns:a="http://schemas.openxmlformats.org/drawingml/2006/main" prst="roundRect">
            <a:avLst>
              <a:gd name="adj" fmla="val 15385"/>
            </a:avLst>
          </a:prstGeom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8186A-F119-4AC5-803E-E3ED328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support에서 멀어질수록 residual이 affine path를 무제한으로 덮어쓰지 못하게 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BE56E-DEE9-430D-8E9B-FDB16AEE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1CCC1-A33F-4E01-A248-D38416C1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84439-9670-4BD6-A795-3C9C13C6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15035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C1064-E4F3-4A39-A4C8-7A0F54E4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EC135-6182-48B4-B018-CE2D50E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5FF3E-EB8E-4053-AB69-F6340194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AA349-B0D9-4CF1-A8A3-B1631A7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검증 프로토콜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6CF8C-BACA-4227-BE41-08F33DC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일반 random split보다 외삽 축을 먼저 고정한다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779D6-F9EC-4F07-86CE-C220715B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41E8A-8B3F-47C4-99CA-CB8D44EE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FC337-1682-4F56-81A1-B3B04AF1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분할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9B0C4-A165-4D3A-953E-3D243F58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시간 끝단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새 unit/engine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조건·support shell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8DA97-7C29-42FA-9254-9C13C7E6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22860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33217-B448-4301-9010-B5718B8D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72CD6-F1AA-402A-82F4-44C76C0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B86C9-37A5-46C3-A9A9-30F9BBBE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02C16-D26A-42A7-B8A9-3EF2581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train 내부 validation으로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구조와 hyperparameter 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ADAD0-C229-4DC3-8AF5-7145275C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57500"/>
            <a:ext cx="22860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A2BDB-EE1B-48B7-8E04-05039ED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69918-551E-46B0-967E-4CCF0186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19708-9CFF-4490-BC25-18E77770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보고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2A9AD-8BCB-4CC3-955A-966E6066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unit coverage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seed robustness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84BCF-4CA7-4CDA-8EC3-2FB681B0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2860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CB5EC-88B5-462F-931A-EF55ED2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22860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CA656-C6C0-4363-B31A-1566E81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228600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B19D3-61FC-487A-98EE-78FFFDD1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안전성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5F225-AE4A-4D06-9D94-4E6ABAE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81300"/>
            <a:ext cx="190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boundary·residual bound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violation 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4DF42-2254-49A4-9213-E7A4A609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원칙: test label은 모델 선택이나 gate calibration에 사용하지 않는다.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FB663-1E15-440C-B446-D57A53F9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E7658-57E8-46A3-9B3F-ED0013E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09EB3-CC44-4AFC-B86C-D2FB8656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9706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70856-47BC-4C5F-BD18-2B697544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BD3FA-1BED-4E10-A519-C954CC1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50292-41E9-4351-9B7E-4174E15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F39B9-DDEA-4B24-9F34-14D88CF2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현재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5847C-70B7-4092-AF4B-7E9D6430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개발 데이터에서 안정적 후보가 되었는지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FB3A7-798D-40C8-928F-09795A4E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762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FB6E5-7E99-45B2-9149-0F7E88FE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7622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2DEF6-B163-4774-B866-6E01E210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Sunwoda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4FCF2-D631-418F-BEDF-504CF2D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0.934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B9B66-5A49-4FDF-94D8-B96BF50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 · 5-seed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20479-979E-4B9C-82E5-A9CC2378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762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D3BD2-9FB5-42AF-BCFC-906FA13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7622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AA6F7-5C07-4E02-8EB4-98977A6B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RWTH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054A2-60AB-4DD3-9F4F-340B247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0.842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E88C5-3E50-4F08-9128-9531C0D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 · 5-seed mean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0025D-EC08-4805-926F-D007610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2762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B276B-53FF-469A-9DBF-992F862F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276225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EF62D-FAF6-42F6-97AB-155B3A0D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MICH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3EA15-ECDD-46B2-8FE5-8BB80CD9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5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0.751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8936E-F727-454B-B424-0B897E5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9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pooled R² · 5-seed mean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B3507-5DF2-4C0A-8460-9954EB9F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A796F-C32D-4824-A241-9A15CE72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386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추가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FD7E3-0A8C-45EE-A815-6D6C627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291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MICH 8개 unit 모두 pooled R² &gt; 0     |     17,645개 예측에서 boundary/residual bound 위반 0건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8EB29-3C8C-4526-81A8-CEE04B0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4536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44536"/>
                </a:solidFill>
                <a:latin typeface="AppleGothic"/>
                <a:ea typeface="AppleGothic"/>
                <a:cs typeface="AppleGothic"/>
              </a:rPr>
              <a:t>해석: 현재 결과는 개발 근거다. 논문에서는 구조 고정 뒤 독립 cohort 결과를 별도 증거로 제시한다.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07747-5151-47C7-9B6A-FB5070D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3AD9EE-B8F5-49A3-9EF8-419AD15B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7B48A-8492-46E2-8FF0-04E12804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55328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243BD-970D-4224-8883-06CFEBAC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D45E8-8D2F-4FCB-9038-4C3818D6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E807B-33B9-4284-A20F-7C0A834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C6E01-B72C-4E28-A20B-A8AB2E1D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PAE의 핵심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93FE1-27D5-4CEF-AC25-479AECED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prior를 고르는 것이 실제로 손해를 줄이는가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4B062-6602-412D-ABE5-36AD052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14AFA-FBBA-436C-B9AA-3B5747B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EC0EE-A73A-4101-B5C9-F4F36E0D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Correct prior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58FEE-F092-4499-9BF9-E81B260C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적절한 prior가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성능·안정성을 높이는가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8F18F-D4F2-4C60-A133-CC70DAC1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52750"/>
            <a:ext cx="2095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DED66-CEEA-4FDC-AF9C-056AAFBF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0B656-558A-4A69-98D2-7E8C0F02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D8C0A-D1D4-47EF-87C7-3F9F3E0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Wrong prior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94DA6-2DF0-4AA7-A146-D0ED542E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틀린 prior가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얼마나 해로운가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C3334-CC66-44DB-A9B9-D2F57C82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52750"/>
            <a:ext cx="2095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7F6A0-C49D-4E0C-94E1-D4128BDA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720B5-0F8A-4E2F-B830-1F9DB43C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53B6B-43EA-4C44-883D-7582F3D9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Prior-off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07257-71AA-4969-9212-BC1340E4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근거가 없을 때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안전한 baseline인가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17480-7DAE-430E-BE08-445D0BFF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09550" cy="2286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CA580-7074-4CC5-8F9C-F20CD8E5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28711-9F6D-4DF9-A4CB-78A4F8F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333625"/>
            <a:ext cx="2190750" cy="66675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0A440-4200-4EF2-B5BC-89F3AC29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43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0EC52-6C32-4894-9A52-1DC1C39C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924175"/>
            <a:ext cx="180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선택 오류를 줄이고</a:t>
            </a:r>
          </a:p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12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손해를 제한하는가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70711-A992-48F4-AB45-3B0C071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필수 ablation: 동일 split에서 correct / deliberately wrong / prior-off / PAE-selected를 비교한다.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CE3F6-A728-423B-9B69-E9A5D04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DA313-A074-4280-A1B3-30AA2C0A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BCF70-108A-4921-9257-A9E366FC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847906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08296-94C2-4C09-8F7D-385CDD8B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D82CE-DBD4-4FAF-8462-8F49CB00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906F4-28CB-4C08-9FB8-1F4D2982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A841E-A781-4E6C-92AD-B2FDF9F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Assurance 계층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34874-8ED6-4651-8CD9-36DDF2E3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점 예측과 함께 적용 가능성·위험을 보고한다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FAD37-1A3B-4F9D-8856-D38BE8FF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62CDD-BB5A-4E64-9361-7A0682D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Support geometry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36C63-19BF-4DBA-BEAE-64BF6E3E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hull/shell 거리, 역사적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7044A-CE80-4103-B7D6-F79A093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90E4D-4CAA-4277-BFBC-4D2A6E23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Validation error 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0042E-E5B8-4AEA-A5F3-4926BE06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validation shell 오차가 test shell에서도 전달되는가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A65A2-2C1A-435C-93A0-7885DEE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7B04D-7C68-4342-BB5C-1DF94F0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Uncertainty / disagreement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9DF77-D29E-4F04-869D-AA71D9C7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불안정 residual을 감쇠하거나 보류하는가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3A646-A21A-45B1-9B20-0239B59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20DC9-4419-4B91-8B67-34FC6C97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Prediction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E0359-8D88-4DFC-ABC8-49102290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9875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point prediction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selected prior level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applicability signal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uncertainty / risk</a:t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predict or abstain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23D0A-4F3B-4F3C-81D6-B5264A2C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현재 PP에서 구현한 geometry·validation 검증을 여러 executor가 공유할 보증 interface로 확장한다.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9FB53-D554-4435-90D4-2E9F3874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6B0B4-8421-488A-BB8A-CAB0816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214D7-3D45-455C-B9E8-4E5A6FED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667432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CDCEE-F1E6-4B24-B2E4-681FBCE2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7FF85-A83F-4D16-BE0E-32B3E2CF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11BEB-C32D-4FB6-9EC6-C1F99AF2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35642-7085-48ED-8034-FFF368F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논문과 박사과정 로드맵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F5DAE-1757-4EBE-9755-0CCB78A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PP와 PAE는 별도 논문으로, 통합은 박사과정의 큰 이야기로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199D5-1ABA-49D0-991C-FDF72A9E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9525">
            <a:solidFill>
              <a:srgbClr val="2A9D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12940-C855-442D-875A-8DFD458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1C231-ADC6-4D35-9A51-51C77EF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현재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52826-354B-467A-A490-0BA71233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paper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0E4D4-9144-4268-BCBE-A392A615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weak prior executor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strict RUL extrapolation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structure·protocol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854D4-5D22-4370-B98D-5A10A86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428625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451A8-52A6-40A1-B719-E2D1DA7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9525">
            <a:solidFill>
              <a:srgbClr val="F4A2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B3A5E-CB56-4A66-9441-25F6D16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45EA3-2D01-4164-8F2C-D4683C2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C9715-229C-4A54-934E-143C34F9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 paper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66E2E-D51A-409B-9D8C-73FFDA80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typed contract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prior compilation·routing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wrong-prior ablation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598D4-4CEB-43E3-A030-FEE08ECB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48000"/>
            <a:ext cx="428625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solidFill>
              <a:srgbClr val="C8D4E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797F9-A7C5-41F5-AD5B-499E90AC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2333625"/>
          </a:xfrm>
          <a:prstGeom xmlns:a="http://schemas.openxmlformats.org/drawingml/2006/main" prst="roundRect">
            <a:avLst>
              <a:gd name="adj" fmla="val 3265"/>
            </a:avLst>
          </a:prstGeom>
          <a:ln xmlns:a="http://schemas.openxmlformats.org/drawingml/2006/main" w="9525">
            <a:solidFill>
              <a:srgbClr val="163A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179C1-AB3F-4BBA-BD49-7B9DFD58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952750" cy="457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A40BB-C41C-46C2-85EA-77A4CAF5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통합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4A13E-61CC-4D75-8D77-C784C688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Dissertation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E3B85-277D-4647-998A-65081334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compile → execute → assure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교차 도메인·regime 변화</a:t>
            </a:r>
          </a:p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selective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DB652-B199-4D87-A904-D287917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통합 claim: prior를 숨기지 않고, 관측으로 정당화되는 수준만 사용하며, 적용 범위와 실패 신호를 함께 보고한다.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CFD88-8C68-4D2B-8416-3B1B84E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EC3E8-C086-4DFA-B59F-BB951A61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B21FF-0BC6-4739-9CB6-725E676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636155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C56D3-9E0B-4B4D-A75A-8480CC72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149E3-D5AF-4FD9-B299-293C09C5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C7535-A03C-43D8-95E9-F7317221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65F08-D807-4A6E-890B-17EB5513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도메인에 따라 달라지는 prior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BDA06-7A82-43F5-B4F4-A31564E1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같은 프레임워크 안에서도 관측 계약과 executor가 달라진다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E953C-3548-4C87-8338-1581509B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3822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7DCD4-7F4B-48F2-9B94-21C40C3D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143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506A2-1CA5-496E-948C-D54AA2BD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배터리 열화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C04DC-37B8-43D1-A7F9-E5B3F41B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3832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관측: capacity·health history, EOL 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874AD-076C-4C41-83BC-D39EB57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허용 prior: 경계·양수성·완만한 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BDC06-57E6-4440-9F06-341BEFA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8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2A9D8F"/>
                </a:solidFill>
                <a:latin typeface="AppleGothic"/>
                <a:ea typeface="AppleGothic"/>
                <a:cs typeface="AppleGothic"/>
              </a:rPr>
              <a:t>주요 경로: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389BC-F5EF-44F3-863D-1CB3D81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03822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F91D6-5AAD-40CA-8BE2-D7E8F1D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143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5746A-0F8E-401E-AB98-4D5315B3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균열성장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D7C84-D0B4-4597-929D-33770FDE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765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관측: crack length, stress intensity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CD2B5-94A6-4260-ACE4-1C1B802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5280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허용 prior: Paris 관계식 또는 단조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89DCD-2A93-40B6-A279-B47DCD27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A261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F4A261"/>
                </a:solidFill>
                <a:latin typeface="AppleGothic"/>
                <a:ea typeface="AppleGothic"/>
                <a:cs typeface="AppleGothic"/>
              </a:rPr>
              <a:t>주요 경로: equation hybrid / constrained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21BB2-874D-4467-9FB7-29791EB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03822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D0B4E-D7E4-4F68-87A2-D4587B4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1430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F1491-11C6-4D75-B07F-4BCC9A60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엔진 RUL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05429-F2BF-45BE-A599-18BA52B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관측: multivariate sensors, condition, unit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32125-E74C-41D1-8BC1-8D0EC94A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91050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허용 prior: 이력·support·조건별 구조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B0936-BA67-4DDC-AB6F-6D99A7A1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6F9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2E6F95"/>
                </a:solidFill>
                <a:latin typeface="AppleGothic"/>
                <a:ea typeface="AppleGothic"/>
                <a:cs typeface="AppleGothic"/>
              </a:rPr>
              <a:t>주요 경로: PP 또는 prior-off + UQ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C9EC0F-119C-4CCA-82B9-1F6E718A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B002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8B0029"/>
                </a:solidFill>
                <a:latin typeface="AppleGothic"/>
                <a:ea typeface="AppleGothic"/>
                <a:cs typeface="AppleGothic"/>
              </a:rPr>
              <a:t>이 매핑 자체를 PAE가 observation contract로 형식화하고, PP는 약한 prior 경로를 담당한다.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1B639-C31D-413F-92CB-0A2E553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89260E-FD6D-4FC7-8509-6FCBE7A9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13EE1-EAB6-4E63-990E-484E2AC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226113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E36F4-1C11-431E-B667-C134EF13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ED4BA-FBBE-4D3F-94B2-44EE8AF3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62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D912B-5C8A-4745-8088-8562787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163A5F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D808-6E20-49C6-9FA2-5F906469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논문별 주장과 필요한 증거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DA705-1A81-4447-ADEE-77773715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0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현재 결과와 후속 가설을 분리한다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C9674-9D34-4EA5-A781-02A987CA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952625" cy="800100"/>
          </a:xfrm>
          <a:prstGeom xmlns:a="http://schemas.openxmlformats.org/drawingml/2006/main" prst="roundRect">
            <a:avLst>
              <a:gd name="adj" fmla="val 9524"/>
            </a:avLst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69AE8-3CFE-43EE-8EEE-3A20D5E9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PP 논문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F6A70-7B77-4667-B186-7849EB7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050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약한 prior를 bounded residual로 안전하게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42FCF-B722-4371-9968-B0E7CC4D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strict split, 경쟁모델, seed, unit coverage, shell, bound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45180-93B1-4DAB-984C-014FAE7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717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9B711-CE9D-420A-B89F-83D78F55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952625" cy="800100"/>
          </a:xfrm>
          <a:prstGeom xmlns:a="http://schemas.openxmlformats.org/drawingml/2006/main" prst="roundRect">
            <a:avLst>
              <a:gd name="adj" fmla="val 9524"/>
            </a:avLst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62A5F-6DDF-45CF-B49F-B6F45EE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PAE 논문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76800-DF5B-4755-A249-7BA133CB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289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관측 계약으로 prior 수준과 executor를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6620B-3C7C-4F87-88D6-EBC872D3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correct/wrong/off/selected ablation, selection regret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9F8EC-AB2E-477E-8D65-F34B344C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9570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7842C-3842-47B2-98E4-CD783757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952625" cy="800100"/>
          </a:xfrm>
          <a:prstGeom xmlns:a="http://schemas.openxmlformats.org/drawingml/2006/main" prst="roundRect">
            <a:avLst>
              <a:gd name="adj" fmla="val 9524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E8CDF-90E2-45B7-B2F2-3C5438B6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박사논문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84D1C-996B-45DD-B4D6-392CBA39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529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prior 선택부터 assurance까지 연결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ED73A-EA5D-438D-B098-4F3E5495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120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교차 도메인, regime shift, selective risk, 외부 cohort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6926B-0228-4EF6-B862-F167031A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19650"/>
            <a:ext cx="757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5AB8E-905C-4FCA-94D6-D89C6371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8B002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06A3B-C901-493D-9BFC-97ACCE64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8B002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8B0029"/>
                </a:solidFill>
                <a:latin typeface="AppleGothic"/>
                <a:ea typeface="AppleGothic"/>
                <a:cs typeface="AppleGothic"/>
              </a:rPr>
              <a:t>현재 완료: PP executor와 개발 데이터 근거     다음 검증: PAE compiler와 통합 assurance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FD1C0-B3C4-4D11-BB64-88AF94B8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44E84-82C9-4C1E-B87A-39F510A8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  /  Assumption-Aware Extrapolation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F23A9-F9A6-4585-B689-FE92BC4C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058345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8A85D-69C7-41C4-87EA-003BD8CB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5A035-C034-41D8-B48A-09B3C4E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09625" cy="571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2C920-D1A8-4A9D-8D4D-678C1AC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3150" b="1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CAAF6-04CE-4861-BCBA-E5A74026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B002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8B0029"/>
                </a:solidFill>
                <a:latin typeface="AppleGothic"/>
                <a:ea typeface="AppleGothic"/>
                <a:cs typeface="AppleGothic"/>
              </a:rPr>
              <a:t>이번 초안에서 먼저 정할 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ACC40-F57F-4761-9B77-53B4EC90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CACA7-1F90-483D-B456-888E710E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6829F-38B0-46F5-A9B6-395ABACE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PP 논문의 중심 도메인·데이터셋·strict extrapolation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11380-CCAA-4018-9C8E-84B8055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718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9EEF1-864F-4269-8034-25B6430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84662-0AAE-4A38-99CA-7A51914C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B5119-3F45-4F09-843C-179A70FA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861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PAE observation contract에서 허용할 prior의 구체적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F53E0-C335-4C9A-B7CB-6CCAAD0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211B2-0152-47D4-BC73-7E38156C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98306-79C9-43BF-92AB-7BD1F6D2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32B39-025D-400F-88EC-81445ED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박사논문에서 추가할 domain과 regime-shift 실험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BB867-AC18-4146-8C3F-6FBFB1D0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329D6-1E00-49E8-82D0-B4CEED4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9EAD6-9779-4CB5-A026-71D5CE8E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77243-23FE-473B-B15F-5932653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02A43"/>
                </a:solidFill>
                <a:latin typeface="AppleGothic"/>
                <a:ea typeface="AppleGothic"/>
                <a:cs typeface="AppleGothic"/>
              </a:rPr>
              <a:t>independent cohort를 확보할 시점과 proof protocol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1D692-F454-42D6-A710-8C62D7A3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292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4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2A86A-9BEB-4CC8-8F14-A3FB508E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D98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627D98"/>
                </a:solidFill>
                <a:latin typeface="AppleGothic"/>
                <a:ea typeface="AppleGothic"/>
                <a:cs typeface="AppleGothic"/>
              </a:rPr>
              <a:t>Smart Production Systems Lab.</a:t>
            </a:r>
          </a:p>
        </p:txBody>
      </p:sp>
    </p:spTree>
    <p:extLst>
      <p:ext uri="{BB962C8B-B14F-4D97-AF65-F5344CB8AC3E}">
        <p14:creationId xmlns:p14="http://schemas.microsoft.com/office/powerpoint/2010/main" val="186258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2026-09-07T09:53:06.0690000Z</dcterms:created>
  <dcterms:modified xsi:type="dcterms:W3CDTF">2026-09-07T09:53:06.0690000Z</dcterms:modified>
</coreProperties>
</file>