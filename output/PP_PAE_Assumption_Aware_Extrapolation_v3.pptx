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b7116f39a04762" /><Relationship Type="http://schemas.openxmlformats.org/officeDocument/2006/relationships/extended-properties" Target="/docProps/app.xml" Id="R382cabbf69774414" /><Relationship Type="http://schemas.openxmlformats.org/officeDocument/2006/relationships/officeDocument" Target="/ppt/presentation.xml" Id="R2545d56686184d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e89ca356414bfb"/>
  </p:sldMasterIdLst>
  <p:notesMasterIdLst>
    <p:notesMasterId xmlns:r="http://schemas.openxmlformats.org/officeDocument/2006/relationships" r:id="R58274eb40b2d4348"/>
  </p:notesMasterIdLst>
  <p:sldIdLst>
    <p:sldId xmlns:r="http://schemas.openxmlformats.org/officeDocument/2006/relationships" id="256" r:id="R3bf75d0e812945e5"/>
    <p:sldId xmlns:r="http://schemas.openxmlformats.org/officeDocument/2006/relationships" id="257" r:id="R4fa6b9c40287489f"/>
    <p:sldId xmlns:r="http://schemas.openxmlformats.org/officeDocument/2006/relationships" id="258" r:id="Rdddf7efed68b4b00"/>
    <p:sldId xmlns:r="http://schemas.openxmlformats.org/officeDocument/2006/relationships" id="259" r:id="R44d8d416005c4a76"/>
    <p:sldId xmlns:r="http://schemas.openxmlformats.org/officeDocument/2006/relationships" id="260" r:id="Rde3281b177474e36"/>
    <p:sldId xmlns:r="http://schemas.openxmlformats.org/officeDocument/2006/relationships" id="261" r:id="R84afb62e716c4bcc"/>
    <p:sldId xmlns:r="http://schemas.openxmlformats.org/officeDocument/2006/relationships" id="262" r:id="Ree559f42890540d2"/>
    <p:sldId xmlns:r="http://schemas.openxmlformats.org/officeDocument/2006/relationships" id="263" r:id="R4751a1d1de454050"/>
    <p:sldId xmlns:r="http://schemas.openxmlformats.org/officeDocument/2006/relationships" id="264" r:id="Rd0aa3bc993e6463a"/>
    <p:sldId xmlns:r="http://schemas.openxmlformats.org/officeDocument/2006/relationships" id="265" r:id="R5cdf8cec2c524118"/>
    <p:sldId xmlns:r="http://schemas.openxmlformats.org/officeDocument/2006/relationships" id="266" r:id="R77659e03010e459e"/>
    <p:sldId xmlns:r="http://schemas.openxmlformats.org/officeDocument/2006/relationships" id="267" r:id="Rbdac3f364fd546c5"/>
    <p:sldId xmlns:r="http://schemas.openxmlformats.org/officeDocument/2006/relationships" id="268" r:id="R1fcc719205f843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4df3b485eb4468" /><Relationship Type="http://schemas.openxmlformats.org/officeDocument/2006/relationships/slideMaster" Target="/ppt/slideMasters/slideMaster1.xml" Id="Rb1e89ca356414bfb" /><Relationship Type="http://schemas.openxmlformats.org/officeDocument/2006/relationships/notesMaster" Target="/ppt/notesMasters/notesMaster1.xml" Id="R58274eb40b2d4348" /><Relationship Type="http://schemas.openxmlformats.org/officeDocument/2006/relationships/presProps" Target="/ppt/presProps.xml" Id="R7464d39fe9ce4167" /><Relationship Type="http://schemas.openxmlformats.org/officeDocument/2006/relationships/tableStyles" Target="/ppt/tableStyles.xml" Id="Ra1204d789c804560" /><Relationship Type="http://schemas.openxmlformats.org/officeDocument/2006/relationships/slide" Target="/ppt/slides/slide1.xml" Id="R3bf75d0e812945e5" /><Relationship Type="http://schemas.openxmlformats.org/officeDocument/2006/relationships/slide" Target="/ppt/slides/slide2.xml" Id="R4fa6b9c40287489f" /><Relationship Type="http://schemas.openxmlformats.org/officeDocument/2006/relationships/slide" Target="/ppt/slides/slide3.xml" Id="Rdddf7efed68b4b00" /><Relationship Type="http://schemas.openxmlformats.org/officeDocument/2006/relationships/slide" Target="/ppt/slides/slide4.xml" Id="R44d8d416005c4a76" /><Relationship Type="http://schemas.openxmlformats.org/officeDocument/2006/relationships/slide" Target="/ppt/slides/slide5.xml" Id="Rde3281b177474e36" /><Relationship Type="http://schemas.openxmlformats.org/officeDocument/2006/relationships/slide" Target="/ppt/slides/slide6.xml" Id="R84afb62e716c4bcc" /><Relationship Type="http://schemas.openxmlformats.org/officeDocument/2006/relationships/slide" Target="/ppt/slides/slide7.xml" Id="Ree559f42890540d2" /><Relationship Type="http://schemas.openxmlformats.org/officeDocument/2006/relationships/slide" Target="/ppt/slides/slide8.xml" Id="R4751a1d1de454050" /><Relationship Type="http://schemas.openxmlformats.org/officeDocument/2006/relationships/slide" Target="/ppt/slides/slide9.xml" Id="Rd0aa3bc993e6463a" /><Relationship Type="http://schemas.openxmlformats.org/officeDocument/2006/relationships/slide" Target="/ppt/slides/slide10.xml" Id="R5cdf8cec2c524118" /><Relationship Type="http://schemas.openxmlformats.org/officeDocument/2006/relationships/slide" Target="/ppt/slides/slide11.xml" Id="R77659e03010e459e" /><Relationship Type="http://schemas.openxmlformats.org/officeDocument/2006/relationships/slide" Target="/ppt/slides/slide12.xml" Id="Rbdac3f364fd546c5" /><Relationship Type="http://schemas.openxmlformats.org/officeDocument/2006/relationships/slide" Target="/ppt/slides/slide13.xml" Id="R1fcc719205f8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0e17418d684c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3ca732c21c4e0c" /><Relationship Type="http://schemas.openxmlformats.org/officeDocument/2006/relationships/notesMaster" Target="/ppt/notesMasters/notesMaster1.xml" Id="Rc84d9e6f3c074b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825b9119dd411a" /><Relationship Type="http://schemas.openxmlformats.org/officeDocument/2006/relationships/notesMaster" Target="/ppt/notesMasters/notesMaster1.xml" Id="Rd4d47a3bb71148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32473a31424a60" /><Relationship Type="http://schemas.openxmlformats.org/officeDocument/2006/relationships/notesMaster" Target="/ppt/notesMasters/notesMaster1.xml" Id="Re7954c350d414e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3e4c41882140e7" /><Relationship Type="http://schemas.openxmlformats.org/officeDocument/2006/relationships/notesMaster" Target="/ppt/notesMasters/notesMaster1.xml" Id="Rbdd4d18e036447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73aa03eb1f40a7" /><Relationship Type="http://schemas.openxmlformats.org/officeDocument/2006/relationships/notesMaster" Target="/ppt/notesMasters/notesMaster1.xml" Id="Rd16c5b68e6974e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296e36e59a493e" /><Relationship Type="http://schemas.openxmlformats.org/officeDocument/2006/relationships/notesMaster" Target="/ppt/notesMasters/notesMaster1.xml" Id="Rd96a4ea34ea844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6077b9cb13468c" /><Relationship Type="http://schemas.openxmlformats.org/officeDocument/2006/relationships/notesMaster" Target="/ppt/notesMasters/notesMaster1.xml" Id="Rc954293cdfe543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b00f29fca4fc4" /><Relationship Type="http://schemas.openxmlformats.org/officeDocument/2006/relationships/notesMaster" Target="/ppt/notesMasters/notesMaster1.xml" Id="R0ca8278ff10d4a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a34276afd14e27" /><Relationship Type="http://schemas.openxmlformats.org/officeDocument/2006/relationships/notesMaster" Target="/ppt/notesMasters/notesMaster1.xml" Id="R5a3bdd6adcae4e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1b5f572e8748ce" /><Relationship Type="http://schemas.openxmlformats.org/officeDocument/2006/relationships/notesMaster" Target="/ppt/notesMasters/notesMaster1.xml" Id="Rae467cd539e94b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49dc28a8df42a5" /><Relationship Type="http://schemas.openxmlformats.org/officeDocument/2006/relationships/notesMaster" Target="/ppt/notesMasters/notesMaster1.xml" Id="Rc450120d459143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cff3f86f14467d" /><Relationship Type="http://schemas.openxmlformats.org/officeDocument/2006/relationships/notesMaster" Target="/ppt/notesMasters/notesMaster1.xml" Id="R9318624f497c46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3297794adb4b82" /><Relationship Type="http://schemas.openxmlformats.org/officeDocument/2006/relationships/notesMaster" Target="/ppt/notesMasters/notesMaster1.xml" Id="R6d41dd6c561d44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prepared from the PP research documents, PAE planning documents, and the supplied lab seminar formatting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 follows the supplied seminar decks: title, index, numbered sections, and concise diagrams.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Motivation: strict extrapolation is defined by temporal, unit, or condition support shifts.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 framing: the extrapolation problem needs explicit assumptions; strong physics constraints are not automatically reliable under misspecification or regime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program overview. PP is the executor for an admissible weak prior; PAE is a future compiler and router.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 ladder and executor mapping. This is a planned framework contract, not a claim that every executor has been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Framework diagram. Assurance is PP-specific today; a cross-executor assurance interface remains a future dissertation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 paper boundary: fixed admissible weak prior, strict out-of-support RUL extrapolation, support-adaptive bounded residual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 architecture: frozen affine tail, boundary margin, bounded dual-scale residual, and support-adaptive saturation.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PP final robust adaptive dual-scale replay results. Values are pooled R² 5-seed means: Sunwoda 0.934, RWTH 0.842, MICH 0.751. Evidence remains retrospective development evidence until independently frozen and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PAE research plan: typed observation contract, admissible-prior compilation, and routing between correct/wrong/off prior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Dissertation story: PP first, PAE second, integrated assumption-aware extrapolation research program third.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discussion slide. Intended for iterative revision of the research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17314c58142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93de151a834d8c" /><Relationship Type="http://schemas.openxmlformats.org/officeDocument/2006/relationships/slideLayout" Target="/ppt/slideLayouts/slideLayout1.xml" Id="Rebdcfbf2f7cf40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dcfbf2f7cf40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5d1fdefc040c9" /><Relationship Type="http://schemas.openxmlformats.org/officeDocument/2006/relationships/notesSlide" Target="/ppt/notesSlides/notesSlide1.xml" Id="R35bd3635a73748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6ada1e31344a2" /><Relationship Type="http://schemas.openxmlformats.org/officeDocument/2006/relationships/notesSlide" Target="/ppt/notesSlides/notesSlide2.xml" Id="R86dc6bfb6be841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4680327ae4b06" /><Relationship Type="http://schemas.openxmlformats.org/officeDocument/2006/relationships/notesSlide" Target="/ppt/notesSlides/notesSlide3.xml" Id="R0a16fbad309b4a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c59e95115465d" /><Relationship Type="http://schemas.openxmlformats.org/officeDocument/2006/relationships/notesSlide" Target="/ppt/notesSlides/notesSlide4.xml" Id="R2252b75e4dac47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9266bdbc64e87" /><Relationship Type="http://schemas.openxmlformats.org/officeDocument/2006/relationships/notesSlide" Target="/ppt/notesSlides/notesSlide5.xml" Id="R0bef3ed6b6a94a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d905c17b2403e" /><Relationship Type="http://schemas.openxmlformats.org/officeDocument/2006/relationships/notesSlide" Target="/ppt/notesSlides/notesSlide6.xml" Id="Rcff0b130e21542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c7e6193f4495b" /><Relationship Type="http://schemas.openxmlformats.org/officeDocument/2006/relationships/notesSlide" Target="/ppt/notesSlides/notesSlide7.xml" Id="Rfe0606d8f54046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52e7e7e61444a" /><Relationship Type="http://schemas.openxmlformats.org/officeDocument/2006/relationships/notesSlide" Target="/ppt/notesSlides/notesSlide8.xml" Id="Reb13ca99d3ee4d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3358bb87842ab" /><Relationship Type="http://schemas.openxmlformats.org/officeDocument/2006/relationships/notesSlide" Target="/ppt/notesSlides/notesSlide9.xml" Id="Rb5e2fc236e9f4f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ba6937247428f" /><Relationship Type="http://schemas.openxmlformats.org/officeDocument/2006/relationships/notesSlide" Target="/ppt/notesSlides/notesSlide10.xml" Id="R21efbaeb87b845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2d2a6443e42fb" /><Relationship Type="http://schemas.openxmlformats.org/officeDocument/2006/relationships/notesSlide" Target="/ppt/notesSlides/notesSlide11.xml" Id="R16277531c9a844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8f7f2d1df4091" /><Relationship Type="http://schemas.openxmlformats.org/officeDocument/2006/relationships/notesSlide" Target="/ppt/notesSlides/notesSlide12.xml" Id="R49da25b816da4a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560e797ce475a" /><Relationship Type="http://schemas.openxmlformats.org/officeDocument/2006/relationships/notesSlide" Target="/ppt/notesSlides/notesSlide13.xml" Id="R11ca227f926947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BDA84-6F62-4722-8860-63C4F833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0FCAB-F425-47FD-A946-9F6DF33E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Assumption-Aware</a:t>
            </a:r>
          </a:p>
          <a:p xmlns:a="http://schemas.openxmlformats.org/drawingml/2006/main">
            <a:pPr>
              <a:defRPr sz="345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Extrapolation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46076-3D43-48CD-B799-6C622B70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E68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34E68"/>
                </a:solidFill>
                <a:latin typeface="AppleGothic"/>
                <a:ea typeface="AppleGothic"/>
                <a:cs typeface="AppleGothic"/>
              </a:rPr>
              <a:t>PP와 PAE를 연결하는 외삽 연구 프레임워크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D6B0D-2E80-466F-8284-469073B9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838200" cy="571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AA6A9-D459-4927-8B08-62950DA8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박사과정 연구 프로그램 초안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B048A-AFFB-4ED7-85B1-88757F1E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53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2709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DE607-683C-4C87-8E40-08B798FB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4621F-FF3D-43A3-A1C4-7C63C567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B87D2-44DA-47EE-832C-708460B5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85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A0141-3B1B-4EFE-B8A1-2A34A559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85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문제와 연구 모티베이션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3BC09-21F0-4C26-B1B1-7F1B62FE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66900"/>
            <a:ext cx="72390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54014-74CE-47DB-B23C-2EA46BEA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F2A21-6D81-4881-9DCE-59B5F0BC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62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가정 인지형 외삽 프레임워크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CE2BA-4DE6-4B4E-8749-4C5DA923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43200"/>
            <a:ext cx="72390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5F12C-973B-47FE-A980-982942D4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CBA5F-E78E-43A9-9C9F-0745EC07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현재 단계: 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0D43E-2CF1-4C29-9A69-563B5CA4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72390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C367B-567E-4926-AC21-F3D2286C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D4CB2-787C-4B98-99C0-9636D269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후속 단계: PAE와 박사과정 로드맵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E89FC-143A-48FE-ADB1-2DCA0140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72390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77B5E-C8E4-45CF-8BCC-4E3689FE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E8C34-750C-496A-BBB2-BDA2423B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7419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71658-86FD-4B34-9ABA-B1DA0F2E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E0CEF-2A83-439B-9923-32C866D0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A2860-2897-4E94-A95F-6E8C6076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31AFA-427E-4FE2-AE51-9601CCDC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문제와 연구 모티베이션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00347-EDB6-47AE-8C1D-CBAF6B55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334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RUL·열화·균열·용량 예측에서 외삽이 필요한 이유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0D569-A98A-49D1-A227-45DFD8FD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배포 환경은 학습 데이터의 끝을 넘어선다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D3764-66B4-4632-AE3D-F6113D32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381250" cy="1905000"/>
          </a:xfrm>
          <a:prstGeom xmlns:a="http://schemas.openxmlformats.org/drawingml/2006/main" prst="roundRect">
            <a:avLst>
              <a:gd name="adj" fmla="val 4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4E3A7-E513-48C5-917E-ECCCA3FA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시간 끝단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5F28F-8C3C-46ED-AC78-39CB45C6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관측한 사이클 이후의 RUL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EF97C-B02F-49B2-BC6F-C8E56DB8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1905000" cy="38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DFDD9-EF8C-4ECB-A7D5-7D79717F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381250" cy="1905000"/>
          </a:xfrm>
          <a:prstGeom xmlns:a="http://schemas.openxmlformats.org/drawingml/2006/main" prst="roundRect">
            <a:avLst>
              <a:gd name="adj" fmla="val 400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0F8F8-216E-4AE8-BC46-33CCEFA3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새로운 개체·엔진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BF9F8-8EEE-4B64-8861-ED6A8AEC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718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학습에 없던 unit 또는 machine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7861E-9979-4EEC-971C-A98B1625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1905000" cy="38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7B417-350E-41E2-964F-6CF5188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2381250" cy="1905000"/>
          </a:xfrm>
          <a:prstGeom xmlns:a="http://schemas.openxmlformats.org/drawingml/2006/main" prst="roundRect">
            <a:avLst>
              <a:gd name="adj" fmla="val 4000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CD480-B382-4A30-98A9-83E9CFA3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새 운전 조건·regime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F59B2-3DF3-484B-A47D-CA081191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718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support 밖의 상태 조합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012D8-9FFF-4342-B0E7-92860D0E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14750"/>
            <a:ext cx="1905000" cy="38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E497A-F138-4E89-ABD1-13AA99AB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평균 점수보다 “어떤 가정으로 미래를 연장했는가”가 외삽의 핵심이다.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5B9D3-FE49-4EF1-8ACD-F8571286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1621F-77FE-4DDD-A607-E658492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3888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BCF53-16A2-4495-93F4-109D64DC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CC6CF-7B17-400E-B3F5-80FC9597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825D6-A4B1-4928-A0A2-2624179A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157F7-F14E-4E30-9B62-F106A6D6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외삽의 핵심 질문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B27A0-C5B6-4875-A408-CA46A4D1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334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데이터 밖의 함수를 무엇으로 정당화할 것인가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9C341-65CE-4FDD-8D49-11B82C7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학습 support 밖에서는 데이터만으로 함수가 정해지지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8C007-E81B-4590-901D-FB70E8DB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42862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3FF16-41F5-4144-8EAF-1DF5BCB5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일반 NN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23897-9FD7-48AE-8975-27EC2EB1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유연한 residual은 support 밖에서도</a:t>
            </a:r>
          </a:p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임의의 형태로 연장될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282AB-69AF-47F4-AB00-373DCA9C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42862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FCEA3-303C-4A18-A026-BD2B337A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강한 물리·수식 prior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81D20-41EC-4A55-8C56-44317CFB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식이 틀리거나 regime가 바뀌면</a:t>
            </a:r>
          </a:p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강한 편향이 생길 수 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C62F0-72C5-49C6-8A41-4F016454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00375"/>
            <a:ext cx="904875" cy="523875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F4A26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7D1D5-17D7-4ADB-886D-2DB683C1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14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연구 목표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58C57-E312-491A-91B0-7492048A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62550"/>
            <a:ext cx="866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E68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334E68"/>
                </a:solidFill>
                <a:latin typeface="AppleGothic"/>
                <a:ea typeface="AppleGothic"/>
                <a:cs typeface="AppleGothic"/>
              </a:rPr>
              <a:t>관측으로 정당화되는 수준의 prior만 사용하고, 근거가 부족하면 축소하거나 보류한다.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E538E-735D-4757-9373-2BE9AF11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B687B-BB7D-43F7-BA37-C57923E6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5580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5111E-3FEF-4289-BEDE-D80E4D87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C5F52-6724-4DC2-B9D7-05CACC10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3ADED-D7E1-4997-A735-9D344B7A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29D52-C52E-4FE9-8DD3-AA9C7CD3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가정 인지형 외삽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3D653-70F4-48C1-9237-4A4F3DBF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334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Compile → Execute → Assure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01F92-320C-4874-B1CE-941CB628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857500" cy="2143125"/>
          </a:xfrm>
          <a:prstGeom xmlns:a="http://schemas.openxmlformats.org/drawingml/2006/main" prst="roundRect">
            <a:avLst>
              <a:gd name="adj" fmla="val 3556"/>
            </a:avLst>
          </a:prstGeom>
          <a:ln xmlns:a="http://schemas.openxmlformats.org/drawingml/2006/main" w="9525">
            <a:solidFill>
              <a:srgbClr val="1F29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6A5BD-DBC8-4F89-AFFB-6E8F585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857500" cy="466725"/>
          </a:xfrm>
          <a:prstGeom xmlns:a="http://schemas.openxmlformats.org/drawingml/2006/main" prst="roundRect">
            <a:avLst>
              <a:gd name="adj" fmla="val 16327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8B65F-F307-40EB-A476-8AE91B4D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Compile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F1462-9261-409C-BA0C-00B9BA1D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14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F5807-EB42-420B-AF2A-5ED3E6B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9087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관측 계약에서</a:t>
            </a:r>
          </a:p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허용 prior를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CDBDC-2621-4863-972C-19A48A0F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14625"/>
            <a:ext cx="419100" cy="3619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9AA5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8F67E-A56C-44BA-BBBC-AFD7D3C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2857500" cy="2143125"/>
          </a:xfrm>
          <a:prstGeom xmlns:a="http://schemas.openxmlformats.org/drawingml/2006/main" prst="roundRect">
            <a:avLst>
              <a:gd name="adj" fmla="val 3556"/>
            </a:avLst>
          </a:prstGeom>
          <a:ln xmlns:a="http://schemas.openxmlformats.org/drawingml/2006/main" w="9525">
            <a:solidFill>
              <a:srgbClr val="1F293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96AA8-FDFB-4A35-B7DC-3A22237D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2857500" cy="466725"/>
          </a:xfrm>
          <a:prstGeom xmlns:a="http://schemas.openxmlformats.org/drawingml/2006/main" prst="roundRect">
            <a:avLst>
              <a:gd name="adj" fmla="val 16327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26971-DE04-4768-9171-D51D2122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Execute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1E4A6-671D-43F8-8BA6-B100553F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14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E1569-E4DB-4E79-8B9F-3DF040A5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9087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약한 prior를</a:t>
            </a:r>
          </a:p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NN residual과 안전하게 결합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CBA2C-23F3-474D-B85E-4C2B6503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419100" cy="3619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9AA5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348DC-73CF-41E5-A443-C15AD5F2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2857500" cy="2143125"/>
          </a:xfrm>
          <a:prstGeom xmlns:a="http://schemas.openxmlformats.org/drawingml/2006/main" prst="roundRect">
            <a:avLst>
              <a:gd name="adj" fmla="val 3556"/>
            </a:avLst>
          </a:prstGeom>
          <a:ln xmlns:a="http://schemas.openxmlformats.org/drawingml/2006/main" w="9525">
            <a:solidFill>
              <a:srgbClr val="1F293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40376-D601-4DCE-B5A9-EEC76B4F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2857500" cy="466725"/>
          </a:xfrm>
          <a:prstGeom xmlns:a="http://schemas.openxmlformats.org/drawingml/2006/main" prst="roundRect">
            <a:avLst>
              <a:gd name="adj" fmla="val 16327"/>
            </a:avLst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A5C6D-6389-4E17-80FB-4E7931DD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B5EB6-A8B3-4447-AA56-2BB73C39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14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공통 보증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2076A-A385-471E-9B99-48A86137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9087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거리·오차·불확실성으로</a:t>
            </a:r>
          </a:p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예측 또는 보류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BBBA4-A7B7-45D6-BB7A-ADECF5E7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프레임워크의 목표는 범용 식을 찾는 것이 아니라, prior의 강도를 관측 정보와 맞추는 것이다.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A788F9-B860-463D-B75E-D89192E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DA229-1843-49DC-8F70-082D4510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2017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39A7F-EBED-46A5-9081-42E8982D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5444E-318B-46F9-AE45-C7901154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9E281-3228-442F-8BA9-1BA95E20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FD7E9-A291-42AB-A0D0-4510BDF0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Prior ladder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49C61-E1FF-4331-B972-92549B8E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334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수식은 가장 강한 prior일 뿐이다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707B7-0EDA-4D19-AE50-1BBD9697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857250" cy="742950"/>
          </a:xfrm>
          <a:prstGeom xmlns:a="http://schemas.openxmlformats.org/drawingml/2006/main" prst="roundRect">
            <a:avLst>
              <a:gd name="adj" fmla="val 10256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C0F43-1DF4-49EA-A510-9F474E5F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619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9E7EE-803A-4E02-AECC-A207E639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525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구조 지식 없음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38137-710F-4B88-84D2-144FD2D6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E68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334E68"/>
                </a:solidFill>
                <a:latin typeface="AppleGothic"/>
                <a:ea typeface="AppleGothic"/>
                <a:cs typeface="AppleGothic"/>
              </a:rPr>
              <a:t>prior-off NN + UQ/보류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862E2-6F02-4200-B8B5-3A3F34A8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71675"/>
            <a:ext cx="790575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B00E6-62B5-4355-92FA-2CD79682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857250" cy="742950"/>
          </a:xfrm>
          <a:prstGeom xmlns:a="http://schemas.openxmlformats.org/drawingml/2006/main" prst="roundRect">
            <a:avLst>
              <a:gd name="adj" fmla="val 10256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091C9-E066-451C-A0CE-D343262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193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A77F6-8C8A-4137-8404-A20A8C40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52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경계·범위·이력·거리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5626A-9F8B-4F1B-9138-21AA414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E68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334E68"/>
                </a:solidFill>
                <a:latin typeface="AppleGothic"/>
                <a:ea typeface="AppleGothic"/>
                <a:cs typeface="AppleGothic"/>
              </a:rPr>
              <a:t>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0946E-F517-4A1D-A23A-516A3214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790575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7B381-F670-4F7B-9378-77F90C39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857250" cy="742950"/>
          </a:xfrm>
          <a:prstGeom xmlns:a="http://schemas.openxmlformats.org/drawingml/2006/main" prst="roundRect">
            <a:avLst>
              <a:gd name="adj" fmla="val 10256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87D23-C981-41A8-A655-6B2313A0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195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B152E-F5E8-4E6F-B3D3-EB86CAB7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528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방향·순서·부분 구조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9070F-0718-4E59-9FE2-88F891EE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E68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334E68"/>
                </a:solidFill>
                <a:latin typeface="AppleGothic"/>
                <a:ea typeface="AppleGothic"/>
                <a:cs typeface="AppleGothic"/>
              </a:rPr>
              <a:t>제약형 예측기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74DB0-335F-4CA6-BC3B-B871185D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71925"/>
            <a:ext cx="790575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D34750-7B11-4BAC-A8EC-36C096C1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857250" cy="742950"/>
          </a:xfrm>
          <a:prstGeom xmlns:a="http://schemas.openxmlformats.org/drawingml/2006/main" prst="roundRect">
            <a:avLst>
              <a:gd name="adj" fmla="val 10256"/>
            </a:avLst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64090-989F-4775-88CB-F70ACA38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19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30AD0-B927-4C28-831C-D36384A3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529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관계식·보존식·동역학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4BC7A-B261-431D-BEBB-DA3C691F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624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E68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334E68"/>
                </a:solidFill>
                <a:latin typeface="AppleGothic"/>
                <a:ea typeface="AppleGothic"/>
                <a:cs typeface="AppleGothic"/>
              </a:rPr>
              <a:t>물리/식 residual hybrid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7E1DA-5583-4898-BEEA-0F58F239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790575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E8422-0FF2-46CB-BC54-90A613D8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PAE의 안전장치: 근거 없는 도메인에서 식을 발명하지 않고 prior-off 경로로 보낸다.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6D89BE-6FE4-49EE-B57B-43983715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F88D6-423B-4333-AE04-8A7486B1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94884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0305C5-C9C2-4546-839D-EAB1CF79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05FDD-C3DA-415E-9DC7-EC746F8A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8517F-FD82-4A64-8E66-D8C5A9C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B29EE-3131-461C-A125-93C14AC9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전체 프레임워크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27B1E-2B1A-4F17-9A5A-C816392B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334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관측 계약에서 예측과 보류까지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61173-6753-4CD8-ABD9-97D339EC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2571750" cy="1162050"/>
          </a:xfrm>
          <a:prstGeom xmlns:a="http://schemas.openxmlformats.org/drawingml/2006/main" prst="roundRect">
            <a:avLst>
              <a:gd name="adj" fmla="val 6557"/>
            </a:avLst>
          </a:prstGeom>
          <a:ln xmlns:a="http://schemas.openxmlformats.org/drawingml/2006/main" w="9525">
            <a:solidFill>
              <a:srgbClr val="1F29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B1577-89E2-4C8C-93FF-8F23B7A2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1F293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709C3-8F22-45E5-9BAD-542193F6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97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관측 계약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322BD-5572-4984-82B1-30EDDF72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입력, 시간 순서, 경계, 메타데이터,</a:t>
            </a:r>
          </a:p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알려진 방향·식, deployment shift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F75CE-6AA7-4F83-87D4-0A19C4AA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552450" cy="3429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9AA5B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3EA87-AB2F-4FA8-A7A5-E53E6BDE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2571750" cy="1162050"/>
          </a:xfrm>
          <a:prstGeom xmlns:a="http://schemas.openxmlformats.org/drawingml/2006/main" prst="roundRect">
            <a:avLst>
              <a:gd name="adj" fmla="val 6557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1AADF-CA58-483A-B3D2-7B2FECD9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CB2DF-2DC0-4C91-A02A-61683C3F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097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PAE prior compiler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605C2-7C8D-4C83-81A1-2E6D5115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431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허용 prior를 선택하고</a:t>
            </a:r>
          </a:p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strong / weak / off 경로를 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59F4E-DD04-4C86-99B8-AA0655F8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552450" cy="3429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9AA5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C5729-374A-44BF-84A5-B5026EBB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57375"/>
            <a:ext cx="2857500" cy="1162050"/>
          </a:xfrm>
          <a:prstGeom xmlns:a="http://schemas.openxmlformats.org/drawingml/2006/main" prst="roundRect">
            <a:avLst>
              <a:gd name="adj" fmla="val 6557"/>
            </a:avLst>
          </a:prstGeom>
          <a:ln xmlns:a="http://schemas.openxmlformats.org/drawingml/2006/main" w="9525">
            <a:solidFill>
              <a:srgbClr val="1F7A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EF7BC-D629-4288-8CE2-567AEDFE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57375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1F7A8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D5E23-4214-4EF1-9A5E-BF9ED012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97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Executor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B1680-9CC4-43C6-8469-FFA9B25E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431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PP · constrained model ·</a:t>
            </a:r>
          </a:p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physics hybrid · prior-off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60F68-0C10-4F37-ACC4-0A07CB30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38500"/>
            <a:ext cx="333375" cy="4191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9AA5B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8B61B-B777-4449-A8AE-9688CA1D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4333875" cy="1104900"/>
          </a:xfrm>
          <a:prstGeom xmlns:a="http://schemas.openxmlformats.org/drawingml/2006/main" prst="roundRect">
            <a:avLst>
              <a:gd name="adj" fmla="val 6897"/>
            </a:avLst>
          </a:prstGeom>
          <a:ln xmlns:a="http://schemas.openxmlformats.org/drawingml/2006/main" w="9525">
            <a:solidFill>
              <a:srgbClr val="334E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650DB-FEEA-433B-9162-D3B257CE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334E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F0D3A2-1C6B-401C-8ED0-B63CEFB3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00525"/>
            <a:ext cx="397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Assurance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DC933D-8E53-4546-8365-C2A191C2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33900"/>
            <a:ext cx="3971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support 거리, validation 오차, 불확실성, coverage</a:t>
            </a:r>
          </a:p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→ predict / report confidence / abstain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8B98F-EF6D-4828-9CBC-EE489876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현재 구현 범위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05C8A-DCFD-4285-A123-988AA132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19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PP executor와 PP-specific geometry·validation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D9B12-44F0-4C99-AD26-1D489914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1CA68-AF4E-44F5-AF69-87A86A34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83148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086D5-9164-48B4-8FA6-C6530285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75B2F-8FAB-447F-B8DC-96416100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DC32C-4B92-4AE3-8B90-988C36F2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E53E4-8B90-4A9C-BD6B-D8902564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현재 단계: 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120D1-752A-4EFF-BD9F-8CA4B2EA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334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첫 번째 독립 논문으로서의 연구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22E2B-BF28-45B2-B981-D9B0D64E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주어진 약한 prior를 NN residual이 외삽 구간에서 망가뜨리지 않게 할 수 있는가?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495AA-7C70-4CD4-8929-56BC47C9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8575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12CB1-7BD0-491F-95EA-4F6DCE90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D2DA7-7F95-4F25-9222-D6FD9A80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98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입력 prior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E0674-28FB-4157-BDBB-F868C227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24955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EOL 경계, 양수성, 이력,</a:t>
            </a:r>
          </a:p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약한 affine tail, support 거리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3063C-97DA-498A-99D9-E1E5C10D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28575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1F7A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B00EE-D627-4A2D-BF1E-4C632A5E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1F7A8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6420C-B9D2-42E7-A03B-A67D300E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핵심 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EE4DD-0394-4C55-BCA4-8A6DBF8F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43225"/>
            <a:ext cx="24955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frozen tail + bounded</a:t>
            </a:r>
          </a:p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dual-scale history residual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DA56D-644E-4F6F-B8A1-D8A35734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28575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334E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CE65B-689B-4279-9067-94745F14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334E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E6CBB-1A52-44E8-9449-ACCFB9E7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출력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56315-EB72-4626-90D3-CEF68E6E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43225"/>
            <a:ext cx="24955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pooled R², unit coverage,</a:t>
            </a:r>
          </a:p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support shell, seed robustness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73F42-4A37-48A7-BEE7-010765A4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34E6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334E68"/>
                </a:solidFill>
                <a:latin typeface="AppleGothic"/>
                <a:ea typeface="AppleGothic"/>
                <a:cs typeface="AppleGothic"/>
              </a:rPr>
              <a:t>PP는 prior를 자동 발견하는 방법이 아니라, 선언된 약한 prior를 안전하게 실행하는 방법이다.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7A292-5EE0-43B4-A002-247F444C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8ACB8-DA3E-4078-90AA-CC3E382E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5618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33708-93E7-4E89-969C-CB15D883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58270-E40C-45EF-AB20-5D024F19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5E059-DA60-434A-A384-4BACCA43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5EBDB-52CA-4B93-BE68-4D3F0415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PP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A44F2-B15A-4AD9-8CA4-3357DAAA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334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Affine tail을 보존하며 residual의 외삽 영향 범위를 제어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E4A70-73A3-4390-8C2F-1E8F6C85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ŷ = m · softplus( ℓ(z) + cθ(z) 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18979-E7E3-474C-A82B-3022F9CD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2857500" cy="1095375"/>
          </a:xfrm>
          <a:prstGeom xmlns:a="http://schemas.openxmlformats.org/drawingml/2006/main" prst="roundRect">
            <a:avLst>
              <a:gd name="adj" fmla="val 6957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71429-7549-41ED-8293-27D6FC55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7BA45-3B4D-4CD3-9E9C-3F97338D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ℓ(z): frozen affine 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215B2-DFED-4841-851E-3552391B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200400"/>
            <a:ext cx="2495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외삽 방향의 기본 경향을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B57DF-E475-4491-83C6-525DBD71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95625"/>
            <a:ext cx="590550" cy="3238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9AA5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CF3FD-9EE6-41A5-B790-595EA351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2857500" cy="1095375"/>
          </a:xfrm>
          <a:prstGeom xmlns:a="http://schemas.openxmlformats.org/drawingml/2006/main" prst="roundRect">
            <a:avLst>
              <a:gd name="adj" fmla="val 6957"/>
            </a:avLst>
          </a:prstGeom>
          <a:ln xmlns:a="http://schemas.openxmlformats.org/drawingml/2006/main" w="9525">
            <a:solidFill>
              <a:srgbClr val="1F7A8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6B341-7A4D-4B1A-8564-9ABA1654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1F7A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47935-D6F2-4DF6-9D7E-10C9C0CA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670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cθ(z): history residual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E6310-E062-483E-B5A2-BD5A3EEC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00400"/>
            <a:ext cx="2495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학습 support 안의 세밀한 보정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534BB-6870-4567-829C-71F44E53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95625"/>
            <a:ext cx="590550" cy="3238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9AA5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4BDB1-5E7C-40D4-92B5-B0FCB4F4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857500" cy="1095375"/>
          </a:xfrm>
          <a:prstGeom xmlns:a="http://schemas.openxmlformats.org/drawingml/2006/main" prst="roundRect">
            <a:avLst>
              <a:gd name="adj" fmla="val 6957"/>
            </a:avLst>
          </a:prstGeom>
          <a:ln xmlns:a="http://schemas.openxmlformats.org/drawingml/2006/main" w="9525">
            <a:solidFill>
              <a:srgbClr val="334E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08ECB-A684-46FB-9C89-9F88C8B4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334E6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7CF26-F8C2-44DD-A9A7-1BBA264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670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m: boundary margin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E5207-96CA-480A-BAD0-26DF189B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00400"/>
            <a:ext cx="2495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EOL 경계와 residual envelope를 보존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2E807-6E05-4BB8-8461-C80A4392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434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support에서 멀어질수록 residual은 작은 포화 규모에서 큰 포화 규모로 전환한다.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9BAA5-1B10-44D1-BACA-D2B00CEE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목적: 내부 구간의 표현력과 외삽 구간의 안정성을 같은 구조 안에서 분리한다.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4EC81-3CC1-483E-A126-51699E7A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1AED8-B488-4CC4-B712-E9D86F8A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22894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07B0FE-1B0B-4951-AC06-6BE29FC3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F4C7C-DA60-4D4E-89A0-7F23C996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89C61-6108-4072-92A1-6C981927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65145-FD59-4438-A2DA-D3BC8F24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PP 현재 근거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F0676-CCB5-41B9-968B-DD19DECF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334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엄격 외삽에서 평균 성능과 최악 case를 함께 본다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72E96-0F11-49FF-B4A5-E0D1B856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25717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F6785-E412-4836-A421-4D3430C9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09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Sunwoda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AC024-BC77-408D-AD85-FBB102F5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7A8C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1F7A8C"/>
                </a:solidFill>
                <a:latin typeface="AppleGothic"/>
                <a:ea typeface="AppleGothic"/>
                <a:cs typeface="AppleGothic"/>
              </a:rPr>
              <a:t>0.934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DFCAC-1D9A-470C-8F8C-812A467C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pooled R², 5-seed mean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828AA-4B78-4446-9B94-5A53575A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24050"/>
            <a:ext cx="25717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1F90E-F0FD-4CE9-8273-0418E36B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RWTH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54894-E7A1-4C1D-94F9-B0A31CA6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14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34E68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334E68"/>
                </a:solidFill>
                <a:latin typeface="AppleGothic"/>
                <a:ea typeface="AppleGothic"/>
                <a:cs typeface="AppleGothic"/>
              </a:rPr>
              <a:t>0.842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F5304-242C-46E9-9CC0-BF59AAF4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pooled R², 5-seed mean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4100A-0C85-4C47-B306-1190C46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24050"/>
            <a:ext cx="257175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AC5C0-6CC0-47E1-802F-1BB5362B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09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MICH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96704-E133-4EE7-9BC6-9AAD6B6C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14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0.751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44CC0-B7B2-423A-8A86-13E64BC6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pooled R², 5-seed mean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91F86-FEBC-43D6-A8CD-3B005396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추가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77236-B71F-43DD-A15D-CC29A323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71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70C95-4189-4725-995A-E687D8FA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MICH 8개 unit 모두 pooled R² &gt;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C4FDF-CDC2-4F98-BDB0-F396C5FD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171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0F84D-CDE4-4ACD-A07D-3F28D822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17,645개 예측에서 boundary/residual bound 위반 0건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BA8F4-8AB8-4BAB-A624-D036DC0F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483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해석: PP는 현 개발 데이터에서 안정적 후보가 되었으며, 논문에서는 고정 후 독립 cohort 검증을 별도 증거로 둔다.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48B80-75BB-4D51-82D1-3199E239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0B346-A932-40CA-A1AC-E85DC7AC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05163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47B50-C8BB-4118-9284-058C80D7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990D6-E4F3-4383-831C-76A5D92E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A08C4-1FFE-4723-84F4-C6984E3E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C1CEA-12CD-4F4F-BCC4-6776882F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후속 단계: PAE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DE2B9-EA6B-4253-A49A-F673845D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334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관측 계약 기반 prior compilation과 안전한 prior-off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38351-987F-4068-8923-5412B56F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PAE의 질문: 무엇을 알고 있을 때, 어느 정도의 prior를 허용할 수 있는가?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CC864-A0A5-44B7-B4FD-4B193B35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2857500" cy="1571625"/>
          </a:xfrm>
          <a:prstGeom xmlns:a="http://schemas.openxmlformats.org/drawingml/2006/main" prst="roundRect">
            <a:avLst>
              <a:gd name="adj" fmla="val 4848"/>
            </a:avLst>
          </a:prstGeom>
          <a:ln xmlns:a="http://schemas.openxmlformats.org/drawingml/2006/main" w="9525">
            <a:solidFill>
              <a:srgbClr val="2D7D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A2D3A-AB22-4EC9-949B-6AB63C77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76200" cy="157162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2D7D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1CF1B-7772-4B5D-986E-E60FDFB3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Correct prior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F4202-224D-46AA-91C0-384FADD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4955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정당한 prior가 있을 때</a:t>
            </a:r>
          </a:p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성능과 안정성을 높이는가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711A1-C48B-4C62-8082-C1C7FF0E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24125"/>
            <a:ext cx="2857500" cy="1571625"/>
          </a:xfrm>
          <a:prstGeom xmlns:a="http://schemas.openxmlformats.org/drawingml/2006/main" prst="roundRect">
            <a:avLst>
              <a:gd name="adj" fmla="val 4848"/>
            </a:avLst>
          </a:prstGeom>
          <a:ln xmlns:a="http://schemas.openxmlformats.org/drawingml/2006/main" w="9525">
            <a:solidFill>
              <a:srgbClr val="C241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9C248-F7C2-45C1-8A19-FB175467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24125"/>
            <a:ext cx="76200" cy="157162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C241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E8F1A-0178-4B98-ABD5-2F83727A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765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Wrong prior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E56AE-4026-425F-BC88-E1C068DC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4955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틀린 prior가 손해를</a:t>
            </a:r>
          </a:p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만드는지를 보이는가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23385-4355-40D2-A34F-5835F6D7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ln xmlns:a="http://schemas.openxmlformats.org/drawingml/2006/main" w="9525">
            <a:solidFill>
              <a:srgbClr val="334E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E694B-D15F-4D10-9A17-53E4CB48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76200" cy="157162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9525">
            <a:solidFill>
              <a:srgbClr val="334E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FE300-C852-4E86-BDEA-4BE57296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765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Prior-off / PAE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53FF3-7963-4814-8DAC-BA26030E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28765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근거가 부족하면 약한 경로 또는</a:t>
            </a:r>
          </a:p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prior-off로 돌아가 손해를 제한하는가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F2818-8236-4309-AD53-C7150E67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E68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334E68"/>
                </a:solidFill>
                <a:latin typeface="AppleGothic"/>
                <a:ea typeface="AppleGothic"/>
                <a:cs typeface="AppleGothic"/>
              </a:rPr>
              <a:t>PAE의 노벨티는 “자동 식 발견”이 아니라, 관측으로 허용되는 prior의 범위를 명시하고 선택 오류를 관리하는 데 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42F01-07D0-4D6C-AD58-E78C568E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E5510-4D35-439E-B3F8-6DCCD60B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974453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31D420-FDA1-4E11-BC67-A7A2F92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6E367-27CC-46D9-B28D-B1BD3A41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AEF0B-86DE-431A-99F9-3DF586D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826D0-CCCF-4C7D-AC6D-B5257CCF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박사과정 연구 로드맵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11264-C38D-4C09-8E8E-B78591D5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334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PP를 출발점으로 prior의 적용 범위와 assurance를 확장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A16C4-3E7F-406E-90D3-A4ED47C7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667000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1F7A8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84394-D2E2-4716-96F8-408DB1CF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43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현재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44DC0-022A-48E1-8659-520336AF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PP 논문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B79C2-590C-48C7-BF9F-B4606D9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약한 prior executor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엄격 RUL 외삽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8FC53-DA63-43AE-97DD-4B6D6B30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523875" cy="3810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9AA5B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7DF35-241C-4527-944C-D1F7380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2667000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4B116-DE9B-4A89-B288-23AD2889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다음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A3829-6131-45B4-B859-004FF04F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PAE 논문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1197A-B56D-455E-8F59-22525E46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typed contract와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prior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4550E-C9D5-46E3-8880-0499D9A6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523875" cy="3810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9AA5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6938E-82CB-49D3-AB63-3ABA2D5D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2667000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334E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F998F-9E13-4CDD-AC63-B2F23B19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통합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792B3-A4C9-44DD-8322-541C55A2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박사논문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C2D4A-88C3-4BF1-9CA3-4CCAA737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compile, execute, assure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교차 도메인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50E8F-978B-48B7-A9A0-8E45CEAC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62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각 단계는 독립 논문으로 성립하고, 통합 논문은 prior의 선택부터 안전한 실행과 적용 범위 보고까지 연결한다.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72BC7-1C70-44D9-B977-55F7251A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   |   Assumption-Aware Extrapolation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EBB32-04AE-44C0-8C24-04AA7F93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116008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0A772-96BC-4C80-AE24-355822FA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D0D4B-8E47-41DE-AF29-C14AF1BB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10E54-7BC6-4B56-84BD-8DD8C9E0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수정이 필요한 지점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3C301-622D-40E8-9960-4B7477E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171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0C1E6-64CE-4B90-AD18-4F0ED208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86125"/>
            <a:ext cx="786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PAE의 관측 계약에서 실제로 허용할 prior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BF2A1-D0C7-42E7-BB6C-45989BC4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90950"/>
            <a:ext cx="171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DFF52-574C-4AB4-B33C-85AAB6D4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90950"/>
            <a:ext cx="786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PP 논문의 중심 데이터셋과 고정할 외삽 protocol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5EFC2-65FD-43DC-A1EC-BBE92622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95775"/>
            <a:ext cx="171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F2937"/>
                </a:solidFill>
                <a:latin typeface="AppleGothic"/>
                <a:ea typeface="AppleGothic"/>
                <a:cs typeface="Apple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39B06-0CE8-495A-AF85-C6C93FA3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95775"/>
            <a:ext cx="786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8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01828"/>
                </a:solidFill>
                <a:latin typeface="AppleGothic"/>
                <a:ea typeface="AppleGothic"/>
                <a:cs typeface="AppleGothic"/>
              </a:rPr>
              <a:t>박사논문에서 추가할 domain과 assurance 실험의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AC5F3-7FC0-47CB-BA0B-CACDCE89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Thank you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C80E9-2E2D-48A5-8A1B-76195865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Smart Production Systems Lab.</a:t>
            </a:r>
          </a:p>
        </p:txBody>
      </p:sp>
    </p:spTree>
    <p:extLst>
      <p:ext uri="{BB962C8B-B14F-4D97-AF65-F5344CB8AC3E}">
        <p14:creationId xmlns:p14="http://schemas.microsoft.com/office/powerpoint/2010/main" val="140307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2026-09-07T09:14:24.5240000Z</dcterms:created>
  <dcterms:modified xsi:type="dcterms:W3CDTF">2026-09-07T09:14:24.5240000Z</dcterms:modified>
</coreProperties>
</file>