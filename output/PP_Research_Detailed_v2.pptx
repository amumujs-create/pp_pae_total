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" y="266700"/>
            <a:ext cx="11506200" cy="6324600"/>
          </a:xfrm>
          <a:prstGeom prst="rect">
            <a:avLst/>
          </a:prstGeom>
          <a:noFill/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33400"/>
            <a:ext cx="3238500" cy="647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2381250"/>
            <a:ext cx="990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C1C1C"/>
                </a:solidFill>
                <a:latin typeface="AppleGothic"/>
                <a:ea typeface="AppleGothic"/>
              </a:rPr>
              <a:t>가정 인식형 외삽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52750"/>
            <a:ext cx="9906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A6A6A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524250"/>
            <a:ext cx="9906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F5C5C"/>
                </a:solidFill>
                <a:latin typeface="AppleGothic"/>
                <a:ea typeface="AppleGothic"/>
              </a:rPr>
              <a:t>식 없는 경로  ·  SAAR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476750"/>
            <a:ext cx="990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1C1C"/>
                </a:solidFill>
                <a:latin typeface="AppleGothic"/>
                <a:ea typeface="AppleGothic"/>
              </a:rPr>
              <a:t>Smart Production Systems Lab.  ·  박사과정 박형배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3000"/>
            <a:ext cx="9906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6A6A"/>
                </a:solidFill>
                <a:latin typeface="AppleGothic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외삽을 범용화하고, 식 유무로 경로만 가른다</a:t>
            </a:r>
          </a:p>
        </p:txBody>
      </p:sp>
      <p:pic>
        <p:nvPicPr>
          <p:cNvPr id="6" name="Picture 5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904875"/>
            <a:ext cx="112395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지금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SAAR  ·  Sunwoda 0.934  ·  RWTH 0.842  ·  MICH 0.751</a:t>
            </a:r>
          </a:p>
        </p:txBody>
      </p:sp>
      <p:pic>
        <p:nvPicPr>
          <p:cNvPr id="6" name="Picture 5" descr="summary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왜 외삽이 어려운가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support 안에서는 여러 함수가 맞고, 밖에서는 가정이 방향을 정한다</a:t>
            </a:r>
          </a:p>
        </p:txBody>
      </p:sp>
      <p:pic>
        <p:nvPicPr>
          <p:cNvPr id="6" name="Picture 5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핵심: NN은 밖으로 튀고, SAAR는 추세를 지킨다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동결 affine + 제한 residual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952500"/>
            <a:ext cx="10668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연구 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unit 분리 · hull-out RUL  ·  식 없는 구조 prior</a:t>
            </a:r>
          </a:p>
        </p:txBody>
      </p:sp>
      <p:pic>
        <p:nvPicPr>
          <p:cNvPr id="6" name="Picture 5" descr="scope_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52500"/>
            <a:ext cx="11049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지금 / 다음 /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지금은 SAAR(PP). PAE와 Assurance는 이어질 경로.</a:t>
            </a:r>
          </a:p>
        </p:txBody>
      </p:sp>
      <p:pic>
        <p:nvPicPr>
          <p:cNvPr id="6" name="Picture 5" descr="roadmap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524000"/>
            <a:ext cx="11430000" cy="3810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SAAR 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ŷ = m · softplus(ℓ + cθ)  ·  dual-scale residual</a:t>
            </a:r>
          </a:p>
        </p:txBody>
      </p:sp>
      <p:pic>
        <p:nvPicPr>
          <p:cNvPr id="6" name="Picture 5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Frozen Affine  ·  Dual-Scale Residual  ·  Support Gate</a:t>
            </a:r>
          </a:p>
        </p:txBody>
      </p:sp>
      <p:pic>
        <p:nvPicPr>
          <p:cNvPr id="6" name="Picture 5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04875"/>
            <a:ext cx="5905500" cy="4762500"/>
          </a:xfrm>
          <a:prstGeom prst="rect">
            <a:avLst/>
          </a:prstGeom>
        </p:spPr>
      </p:pic>
      <p:pic>
        <p:nvPicPr>
          <p:cNvPr id="7" name="Picture 6" descr="support_adap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1143000"/>
            <a:ext cx="5143500" cy="428625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unit 분리 · hull-out · val-only 선택 · test는 한 번만</a:t>
            </a:r>
          </a:p>
        </p:txBody>
      </p:sp>
      <p:pic>
        <p:nvPicPr>
          <p:cNvPr id="6" name="Picture 5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개발 3데이터  ·  최저점(MICH)을 살린 tradeoff</a:t>
            </a:r>
          </a:p>
        </p:txBody>
      </p:sp>
      <p:pic>
        <p:nvPicPr>
          <p:cNvPr id="6" name="Picture 5" descr="result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무엇이 움직였나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고정 경계 → SAAR  ·  평균 vs 최저</a:t>
            </a:r>
          </a:p>
        </p:txBody>
      </p:sp>
      <p:pic>
        <p:nvPicPr>
          <p:cNvPr id="6" name="Picture 5" descr="ablation_s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952500"/>
            <a:ext cx="5905500" cy="4762500"/>
          </a:xfrm>
          <a:prstGeom prst="rect">
            <a:avLst/>
          </a:prstGeom>
        </p:spPr>
      </p:pic>
      <p:pic>
        <p:nvPicPr>
          <p:cNvPr id="7" name="Picture 6" descr="model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952500"/>
            <a:ext cx="5334000" cy="47625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비교 — 잘 된 8곳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행=데이터  ·  열=알고리즘  ·  SAAR 열 강조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04875"/>
            <a:ext cx="11430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SAAR vs TabPFN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보조 비교(train 상한). MATRb2만으로 우위 주장하지 않음.</a:t>
            </a:r>
          </a:p>
        </p:txBody>
      </p:sp>
      <p:pic>
        <p:nvPicPr>
          <p:cNvPr id="6" name="Picture 5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되는 곳 / 안 되는 곳</a:t>
            </a:r>
          </a:p>
        </p:txBody>
      </p:sp>
      <p:pic>
        <p:nvPicPr>
          <p:cNvPr id="5" name="Picture 4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952500"/>
            <a:ext cx="10668000" cy="4953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안정성 · 유닛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bootstrap CI  ·  MICH 8/8 양수</a:t>
            </a:r>
          </a:p>
        </p:txBody>
      </p:sp>
      <p:pic>
        <p:nvPicPr>
          <p:cNvPr id="6" name="Picture 5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000125"/>
            <a:ext cx="5715000" cy="4572000"/>
          </a:xfrm>
          <a:prstGeom prst="rect">
            <a:avLst/>
          </a:prstGeom>
        </p:spPr>
      </p:pic>
      <p:pic>
        <p:nvPicPr>
          <p:cNvPr id="7" name="Picture 6" descr="mich_un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1000125"/>
            <a:ext cx="5429250" cy="4572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한계와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확증이 아닌 것 · 아직 주장하지 않는 것</a:t>
            </a:r>
          </a:p>
        </p:txBody>
      </p:sp>
      <p:pic>
        <p:nvPicPr>
          <p:cNvPr id="6" name="Picture 5" descr="status_co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6667500" cy="4572000"/>
          </a:xfrm>
          <a:prstGeom prst="rect">
            <a:avLst/>
          </a:prstGeom>
        </p:spPr>
      </p:pic>
      <p:pic>
        <p:nvPicPr>
          <p:cNvPr id="7" name="Picture 6" descr="limits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0" y="1714500"/>
            <a:ext cx="4381500" cy="3048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실패도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거절이 정직한 답이 되는 경우</a:t>
            </a:r>
          </a:p>
        </p:txBody>
      </p:sp>
      <p:pic>
        <p:nvPicPr>
          <p:cNvPr id="6" name="Picture 5" descr="fai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4775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PAE / SAAR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같은 외삽, 다른 입력 — 식 있음 / 식 없음</a:t>
            </a:r>
          </a:p>
        </p:txBody>
      </p:sp>
      <p:pic>
        <p:nvPicPr>
          <p:cNvPr id="6" name="Picture 5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가져갈 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381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5C5C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763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C1C"/>
                </a:solidFill>
                <a:latin typeface="AppleGothic"/>
                <a:ea typeface="AppleGothic"/>
              </a:rPr>
              <a:t>밖을 지탱하는 것은 데이터가 아니라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381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5C5C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288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C1C"/>
                </a:solidFill>
                <a:latin typeface="AppleGothic"/>
                <a:ea typeface="AppleGothic"/>
              </a:rPr>
              <a:t>식이 없으면 SAAR: 동결 affine + 제한 residual.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143250"/>
            <a:ext cx="381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5C5C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813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C1C"/>
                </a:solidFill>
                <a:latin typeface="AppleGothic"/>
                <a:ea typeface="AppleGothic"/>
              </a:rPr>
              <a:t>주 결과 0.934 / 0.842 / 0.751 — 최저점을 살린 tradeoff.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" y="4095750"/>
            <a:ext cx="381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5C5C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1338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C1C"/>
                </a:solidFill>
                <a:latin typeface="AppleGothic"/>
                <a:ea typeface="AppleGothic"/>
              </a:rPr>
              <a:t>Zn·베어링·PAE는 한계/후속. 만능 SOTA를 주장하지 않는다.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6750" y="2667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C1C1C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333375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A6A6A"/>
                </a:solidFill>
                <a:latin typeface="AppleGothic"/>
                <a:ea typeface="AppleGothic"/>
              </a:rPr>
              <a:t>스플릿 · 방법 상세 · 원문 연결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공통 스플릿</a:t>
            </a:r>
          </a:p>
        </p:txBody>
      </p:sp>
      <p:pic>
        <p:nvPicPr>
          <p:cNvPr id="5" name="Picture 4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방법 상세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공용 구조 · 데이터별은 계수·NN만</a:t>
            </a:r>
          </a:p>
        </p:txBody>
      </p:sp>
      <p:pic>
        <p:nvPicPr>
          <p:cNvPr id="6" name="Picture 5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Ablation 수치</a:t>
            </a:r>
          </a:p>
        </p:txBody>
      </p:sp>
      <p:pic>
        <p:nvPicPr>
          <p:cNvPr id="5" name="Picture 4" descr="ablation_nu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953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알고리즘 막대</a:t>
            </a:r>
          </a:p>
        </p:txBody>
      </p:sp>
      <p:pic>
        <p:nvPicPr>
          <p:cNvPr id="5" name="Picture 4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953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PAE 경로 (후속)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09600"/>
            <a:ext cx="1047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A6A"/>
                </a:solidFill>
                <a:latin typeface="AppleGothic"/>
                <a:ea typeface="AppleGothic"/>
              </a:rPr>
              <a:t>식 뼈대 + 제한 NN</a:t>
            </a:r>
          </a:p>
        </p:txBody>
      </p:sp>
      <p:pic>
        <p:nvPicPr>
          <p:cNvPr id="6" name="Picture 5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2667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AppleGothic"/>
                <a:ea typeface="AppleGothic"/>
              </a:rPr>
              <a:t>원문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430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AppleGothic"/>
                <a:ea typeface="AppleGothic"/>
              </a:rPr>
              <a:t>·  MODEL_AND_SPLIT_KO.md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0975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AppleGothic"/>
                <a:ea typeface="AppleGothic"/>
              </a:rPr>
              <a:t>·  UNIFIED_SUPPORT_GATED_PP_RESULTS_KO.md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4765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AppleGothic"/>
                <a:ea typeface="AppleGothic"/>
              </a:rPr>
              <a:t>·  FINAL_PP_COMPONENT_ABLATION_RESULTS_KO.md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14325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AppleGothic"/>
                <a:ea typeface="AppleGothic"/>
              </a:rPr>
              <a:t>·  ALL_DATASET_EXTRAPOLATION_COMPETITORS_KO.md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81000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AppleGothic"/>
                <a:ea typeface="AppleGothic"/>
              </a:rPr>
              <a:t>·  STATISTICAL_NOVELTY_EVIDENCE_KO.md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476750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AppleGothic"/>
                <a:ea typeface="AppleGothic"/>
              </a:rPr>
              <a:t>·  APPLICABILITY_NOVELTY_LIMITS_KO.md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6457950"/>
            <a:ext cx="11125200" cy="0"/>
          </a:xfrm>
          <a:prstGeom prst="line">
            <a:avLst/>
          </a:prstGeom>
          <a:ln w="9525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3400" y="6515100"/>
            <a:ext cx="66675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A6A6A"/>
                </a:solidFill>
                <a:latin typeface="AppleGothic"/>
                <a:ea typeface="AppleGothic"/>
              </a:rPr>
              <a:t>SPS Lab  ·  Assumption-Aware Extrapolation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96050"/>
            <a:ext cx="57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A6A6A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