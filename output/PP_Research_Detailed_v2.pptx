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1000" y="304800"/>
            <a:ext cx="11430000" cy="6248400"/>
          </a:xfrm>
          <a:prstGeom prst="rect">
            <a:avLst/>
          </a:prstGeom>
          <a:noFill/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ps_lab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1500" y="552450"/>
            <a:ext cx="3048000" cy="609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52500" y="2286000"/>
            <a:ext cx="10287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111111"/>
                </a:solidFill>
                <a:latin typeface="AppleGothic"/>
                <a:ea typeface="AppleGothic"/>
              </a:rPr>
              <a:t>가정 인식형 외삽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2500" y="2857500"/>
            <a:ext cx="10287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55555"/>
                </a:solidFill>
                <a:latin typeface="AppleGothic"/>
                <a:ea typeface="AppleGothic"/>
              </a:rPr>
              <a:t>Assumption-Aware Extrapolation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" y="3429000"/>
            <a:ext cx="10287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A5C5C"/>
                </a:solidFill>
                <a:latin typeface="AppleGothic"/>
                <a:ea typeface="AppleGothic"/>
              </a:rPr>
              <a:t>식 없는 경로  ·  SAAR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4381500"/>
            <a:ext cx="10287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111111"/>
                </a:solidFill>
                <a:latin typeface="AppleGothic"/>
                <a:ea typeface="AppleGothic"/>
              </a:rPr>
              <a:t>Smart Production Systems Lab.  ·  박사과정 박형배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48577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55555"/>
                </a:solidFill>
                <a:latin typeface="AppleGothic"/>
                <a:ea typeface="AppleGothic"/>
              </a:rPr>
              <a:t>2026.09.09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0A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  <a:latin typeface="AppleGothic"/>
                <a:ea typeface="AppleGothic"/>
              </a:rPr>
              <a:t>연구 루트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340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AppleGothic"/>
                <a:ea typeface="AppleGothic"/>
              </a:rPr>
              <a:t>외삽을 범용화하고, 식 유무로 경로만 가른다</a:t>
            </a:r>
          </a:p>
        </p:txBody>
      </p:sp>
      <p:pic>
        <p:nvPicPr>
          <p:cNvPr id="6" name="Picture 5" descr="research_rou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857250"/>
            <a:ext cx="11430000" cy="514350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AppleGothic"/>
                <a:ea typeface="AppleGothic"/>
              </a:rPr>
              <a:t>SPS Lab  ·  Assumption-Aware Extrapolation  ·  SAAR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555555"/>
                </a:solidFill>
                <a:latin typeface="AppleGothic"/>
                <a:ea typeface="AppleGothic"/>
              </a:rPr>
              <a:t>2/11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0A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  <a:latin typeface="AppleGothic"/>
                <a:ea typeface="AppleGothic"/>
              </a:rPr>
              <a:t>문제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340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AppleGothic"/>
                <a:ea typeface="AppleGothic"/>
              </a:rPr>
              <a:t>support 밖에서는 데이터가 아니라 가정이 방향을 정한다</a:t>
            </a:r>
          </a:p>
        </p:txBody>
      </p:sp>
      <p:pic>
        <p:nvPicPr>
          <p:cNvPr id="6" name="Picture 5" descr="nn_vs_saar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250" y="857250"/>
            <a:ext cx="11239500" cy="514350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AppleGothic"/>
                <a:ea typeface="AppleGothic"/>
              </a:rPr>
              <a:t>SPS Lab  ·  Assumption-Aware Extrapolation  ·  SAAR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555555"/>
                </a:solidFill>
                <a:latin typeface="AppleGothic"/>
                <a:ea typeface="AppleGothic"/>
              </a:rPr>
              <a:t>3/11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0A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  <a:latin typeface="AppleGothic"/>
                <a:ea typeface="AppleGothic"/>
              </a:rPr>
              <a:t>방법 — SAAR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340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AppleGothic"/>
                <a:ea typeface="AppleGothic"/>
              </a:rPr>
              <a:t>동결 affine + dual-scale residual  ·  equation-free</a:t>
            </a:r>
          </a:p>
        </p:txBody>
      </p:sp>
      <p:pic>
        <p:nvPicPr>
          <p:cNvPr id="6" name="Picture 5" descr="pp_equation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857250"/>
            <a:ext cx="11430000" cy="495300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AppleGothic"/>
                <a:ea typeface="AppleGothic"/>
              </a:rPr>
              <a:t>SPS Lab  ·  Assumption-Aware Extrapolation  ·  SAAR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555555"/>
                </a:solidFill>
                <a:latin typeface="AppleGothic"/>
                <a:ea typeface="AppleGothic"/>
              </a:rPr>
              <a:t>4/11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0A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  <a:latin typeface="AppleGothic"/>
                <a:ea typeface="AppleGothic"/>
              </a:rPr>
              <a:t>지금 결론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340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AppleGothic"/>
                <a:ea typeface="AppleGothic"/>
              </a:rPr>
              <a:t>개발 3배터리 주표</a:t>
            </a:r>
          </a:p>
        </p:txBody>
      </p:sp>
      <p:pic>
        <p:nvPicPr>
          <p:cNvPr id="6" name="Picture 5" descr="summary_execu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952500"/>
            <a:ext cx="11430000" cy="476250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AppleGothic"/>
                <a:ea typeface="AppleGothic"/>
              </a:rPr>
              <a:t>SPS Lab  ·  Assumption-Aware Extrapolation  ·  SAAR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555555"/>
                </a:solidFill>
                <a:latin typeface="AppleGothic"/>
                <a:ea typeface="AppleGothic"/>
              </a:rPr>
              <a:t>5/11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0A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  <a:latin typeface="AppleGothic"/>
                <a:ea typeface="AppleGothic"/>
              </a:rPr>
              <a:t>주 결과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340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AppleGothic"/>
                <a:ea typeface="AppleGothic"/>
              </a:rPr>
              <a:t>같은 구조 · Sunwoda / RWTH / MICH</a:t>
            </a:r>
          </a:p>
        </p:txBody>
      </p:sp>
      <p:pic>
        <p:nvPicPr>
          <p:cNvPr id="6" name="Picture 5" descr="results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0" y="809625"/>
            <a:ext cx="11620500" cy="523875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AppleGothic"/>
                <a:ea typeface="AppleGothic"/>
              </a:rPr>
              <a:t>SPS Lab  ·  Assumption-Aware Extrapolation  ·  SAAR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555555"/>
                </a:solidFill>
                <a:latin typeface="AppleGothic"/>
                <a:ea typeface="AppleGothic"/>
              </a:rPr>
              <a:t>6/11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0A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  <a:latin typeface="AppleGothic"/>
                <a:ea typeface="AppleGothic"/>
              </a:rPr>
              <a:t>Ablation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340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AppleGothic"/>
                <a:ea typeface="AppleGothic"/>
              </a:rPr>
              <a:t>고정 경계 → SAAR 이동  ·  평균–최저 tradeoff</a:t>
            </a:r>
          </a:p>
        </p:txBody>
      </p:sp>
      <p:pic>
        <p:nvPicPr>
          <p:cNvPr id="6" name="Picture 5" descr="ablation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0" y="809625"/>
            <a:ext cx="11620500" cy="523875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AppleGothic"/>
                <a:ea typeface="AppleGothic"/>
              </a:rPr>
              <a:t>SPS Lab  ·  Assumption-Aware Extrapolation  ·  SAAR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555555"/>
                </a:solidFill>
                <a:latin typeface="AppleGothic"/>
                <a:ea typeface="AppleGothic"/>
              </a:rPr>
              <a:t>7/11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0A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  <a:latin typeface="AppleGothic"/>
                <a:ea typeface="AppleGothic"/>
              </a:rPr>
              <a:t>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340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AppleGothic"/>
                <a:ea typeface="AppleGothic"/>
              </a:rPr>
              <a:t>양의 8곳 × 전 알고리즘 (SAAR … TabPFN 한 그래프)</a:t>
            </a:r>
          </a:p>
        </p:txBody>
      </p:sp>
      <p:pic>
        <p:nvPicPr>
          <p:cNvPr id="6" name="Picture 5" descr="competitor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742950"/>
            <a:ext cx="11430000" cy="533400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AppleGothic"/>
                <a:ea typeface="AppleGothic"/>
              </a:rPr>
              <a:t>SPS Lab  ·  Assumption-Aware Extrapolation  ·  SAAR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555555"/>
                </a:solidFill>
                <a:latin typeface="AppleGothic"/>
                <a:ea typeface="AppleGothic"/>
              </a:rPr>
              <a:t>8/11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0A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  <a:latin typeface="AppleGothic"/>
                <a:ea typeface="AppleGothic"/>
              </a:rPr>
              <a:t>안정성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340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AppleGothic"/>
                <a:ea typeface="AppleGothic"/>
              </a:rPr>
              <a:t>bootstrap CI  ·  MICH unit $R^2$</a:t>
            </a:r>
          </a:p>
        </p:txBody>
      </p:sp>
      <p:pic>
        <p:nvPicPr>
          <p:cNvPr id="6" name="Picture 5" descr="robustness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0" y="857250"/>
            <a:ext cx="11620500" cy="504825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AppleGothic"/>
                <a:ea typeface="AppleGothic"/>
              </a:rPr>
              <a:t>SPS Lab  ·  Assumption-Aware Extrapolation  ·  SAAR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555555"/>
                </a:solidFill>
                <a:latin typeface="AppleGothic"/>
                <a:ea typeface="AppleGothic"/>
              </a:rPr>
              <a:t>9/11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0A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  <a:latin typeface="AppleGothic"/>
                <a:ea typeface="AppleGothic"/>
              </a:rPr>
              <a:t>실패 · 경계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340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AppleGothic"/>
                <a:ea typeface="AppleGothic"/>
              </a:rPr>
              <a:t>표로 남긴 한계  ·  주장 / 비주장</a:t>
            </a:r>
          </a:p>
        </p:txBody>
      </p:sp>
      <p:pic>
        <p:nvPicPr>
          <p:cNvPr id="6" name="Picture 5" descr="fail_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0" y="809625"/>
            <a:ext cx="5905500" cy="4953000"/>
          </a:xfrm>
          <a:prstGeom prst="rect">
            <a:avLst/>
          </a:prstGeom>
        </p:spPr>
      </p:pic>
      <p:pic>
        <p:nvPicPr>
          <p:cNvPr id="7" name="Picture 6" descr="status_compa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6500" y="809625"/>
            <a:ext cx="5334000" cy="4953000"/>
          </a:xfrm>
          <a:prstGeom prst="rect">
            <a:avLst/>
          </a:prstGeom>
        </p:spPr>
      </p:pic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AppleGothic"/>
                <a:ea typeface="AppleGothic"/>
              </a:rPr>
              <a:t>SPS Lab  ·  Assumption-Aware Extrapolation  ·  SAAR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555555"/>
                </a:solidFill>
                <a:latin typeface="AppleGothic"/>
                <a:ea typeface="AppleGothic"/>
              </a:rPr>
              <a:t>10/11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0A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  <a:latin typeface="AppleGothic"/>
                <a:ea typeface="AppleGothic"/>
              </a:rPr>
              <a:t>경로와 한 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340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AppleGothic"/>
                <a:ea typeface="AppleGothic"/>
              </a:rPr>
              <a:t>PAE / SAAR  ·  오늘 가져갈 말</a:t>
            </a:r>
          </a:p>
        </p:txBody>
      </p:sp>
      <p:pic>
        <p:nvPicPr>
          <p:cNvPr id="6" name="Picture 5" descr="pp_vs_pae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809625"/>
            <a:ext cx="11430000" cy="36195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33400" y="4667250"/>
            <a:ext cx="11049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11111"/>
                </a:solidFill>
                <a:latin typeface="AppleGothic"/>
                <a:ea typeface="AppleGothic"/>
              </a:rPr>
              <a:t>1  밖을 지탱하는 것은 가정이지만, 식만 넣으면 답이 아니다.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5048250"/>
            <a:ext cx="11049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11111"/>
                </a:solidFill>
                <a:latin typeface="AppleGothic"/>
                <a:ea typeface="AppleGothic"/>
              </a:rPr>
              <a:t>2  식이 없으면 SAAR — 동결 affine + 제한 residual.  주표 0.934 / 0.842 / 0.751.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5429250"/>
            <a:ext cx="11049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11111"/>
                </a:solidFill>
                <a:latin typeface="AppleGothic"/>
                <a:ea typeface="AppleGothic"/>
              </a:rPr>
              <a:t>3  실패·Zn·PAE는 한계/후속. 만능 SOTA를 주장하지 않는다.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AppleGothic"/>
                <a:ea typeface="AppleGothic"/>
              </a:rPr>
              <a:t>SPS Lab  ·  Assumption-Aware Extrapolation  ·  SAAR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555555"/>
                </a:solidFill>
                <a:latin typeface="AppleGothic"/>
                <a:ea typeface="AppleGothic"/>
              </a:rPr>
              <a:t>11/11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