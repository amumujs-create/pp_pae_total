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66700" y="209550"/>
            <a:ext cx="11658600" cy="6438900"/>
          </a:xfrm>
          <a:prstGeom prst="rect">
            <a:avLst/>
          </a:prstGeom>
          <a:noFill/>
          <a:ln w="1587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500" y="457200"/>
            <a:ext cx="3810000" cy="76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33500" y="2190750"/>
            <a:ext cx="9525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02A43"/>
                </a:solidFill>
                <a:latin typeface="AppleGothic"/>
                <a:ea typeface="AppleGothic"/>
              </a:rPr>
              <a:t>가정 인식형 외삽의 통합 프레임워크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2809875"/>
            <a:ext cx="9525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Assumption-Aware Extrapolation  ·  PAE / SAAR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3500" y="3238500"/>
            <a:ext cx="952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27D98"/>
                </a:solidFill>
                <a:latin typeface="AppleGothic"/>
                <a:ea typeface="AppleGothic"/>
              </a:rPr>
              <a:t>현재 단계: 식 없는 경로 (SAAR / PP)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3500" y="3810000"/>
            <a:ext cx="952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Smart Production Systems Lab.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3500" y="4191000"/>
            <a:ext cx="952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박사과정 박형배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3500" y="5334000"/>
            <a:ext cx="952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2026.09.09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266700"/>
            <a:ext cx="857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Assumption-Aware Extrapolation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495300"/>
            <a:ext cx="9525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02A43"/>
                </a:solidFill>
                <a:latin typeface="AppleGothic"/>
                <a:ea typeface="AppleGothic"/>
              </a:rPr>
              <a:t>가정 인식형 외삽의 통합 루트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" y="876300"/>
            <a:ext cx="10477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통합 목표: 외삽의 범용화  ·  식 유무는 경로  ·  지금은 SAAR(PP)</a:t>
            </a:r>
          </a:p>
        </p:txBody>
      </p:sp>
      <p:pic>
        <p:nvPicPr>
          <p:cNvPr id="7" name="Picture 6" descr="research_ro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238250"/>
            <a:ext cx="11239500" cy="4953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6750" y="6334125"/>
            <a:ext cx="4762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8500" y="6334125"/>
            <a:ext cx="571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SAAR 서머리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두괄식  ·  식 없는 경로의 지금 결론</a:t>
            </a:r>
          </a:p>
        </p:txBody>
      </p:sp>
      <p:pic>
        <p:nvPicPr>
          <p:cNvPr id="8" name="Picture 7" descr="summary_execu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PP/SAAR = equation-free 안전장치  ·  PAE = equation-aware 경로(이번 주결과 아님)  ·  다음: 모티베이션 → 방법 → 실험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381250"/>
            <a:ext cx="838200" cy="47625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2667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4A261"/>
                </a:solidFill>
                <a:latin typeface="AppleGothic"/>
                <a:ea typeface="AppleGothic"/>
              </a:rPr>
              <a:t>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143250"/>
            <a:ext cx="1047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pleGothic"/>
                <a:ea typeface="AppleGothic"/>
              </a:rPr>
              <a:t>이제부터 상세 — 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000500"/>
            <a:ext cx="9525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8D4E3"/>
                </a:solidFill>
                <a:latin typeface="AppleGothic"/>
                <a:ea typeface="AppleGothic"/>
              </a:rPr>
              <a:t>모티베이션 → 바운더리 → SAAR 구조 → 실험 · 한계 → 전망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50" y="4953000"/>
            <a:ext cx="8572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8BCCB"/>
                </a:solidFill>
                <a:latin typeface="AppleGothic"/>
                <a:ea typeface="AppleGothic"/>
              </a:rPr>
              <a:t>식 없는 경로  ·  PAE(식 있음)는 대비·전망으로만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왜 이 연구를 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학습 안에서는 잘 맞아도, 밖에서는 가정이 예측을 가른다</a:t>
            </a:r>
          </a:p>
        </p:txBody>
      </p:sp>
      <p:pic>
        <p:nvPicPr>
          <p:cNvPr id="8" name="Picture 7" descr="motivation_fu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428750"/>
            <a:ext cx="7429500" cy="2857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86750" y="16192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86750" y="1619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150" y="1790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문제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9150" y="20955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일반 신경망은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범위 밖에서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예측이 흔들리기 쉽다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6750" y="29527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86750" y="29527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1242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150" y="34290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물리식을 세게 넣으면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그 식이 틀릴 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오히려 더 위험하다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86750" y="42862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86750" y="4286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457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출발점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150" y="47625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지금 분명히 아는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가정만 쓰고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모르면 예측을 멈춘다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4476750"/>
            <a:ext cx="7239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문헌에서 가져온 한 문장: 밖을 지탱하는 것은 데이터가 아니라 가정이다.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" y="5048250"/>
            <a:ext cx="7239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출처: 외삽 문헌조사 발표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그중 지금 어디인가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없는 경로(PP)를 먼저 독립 논문으로 닫는다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666875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00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666875"/>
            <a:ext cx="76200" cy="2857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8700" y="1857375"/>
            <a:ext cx="95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AppleGothic"/>
                <a:ea typeface="AppleGothic"/>
              </a:rPr>
              <a:t>지금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" y="2238375"/>
            <a:ext cx="285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A43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" y="2809875"/>
            <a:ext cx="2857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27D98"/>
                </a:solidFill>
                <a:latin typeface="AppleGothic"/>
                <a:ea typeface="AppleGothic"/>
              </a:rPr>
              <a:t>식 없음  ·  equation-free</a:t>
            </a:r>
          </a:p>
          <a:p>
            <a:pPr algn="l"/>
            <a:r>
              <a:rPr sz="1500" b="0">
                <a:solidFill>
                  <a:srgbClr val="627D98"/>
                </a:solidFill>
                <a:latin typeface="AppleGothic"/>
                <a:ea typeface="AppleGothic"/>
              </a:rPr>
              <a:t>약한 prior 실행</a:t>
            </a:r>
          </a:p>
          <a:p>
            <a:pPr algn="l"/>
            <a:r>
              <a:rPr sz="1500" b="0">
                <a:solidFill>
                  <a:srgbClr val="627D98"/>
                </a:solidFill>
                <a:latin typeface="AppleGothic"/>
                <a:ea typeface="AppleGothic"/>
              </a:rPr>
              <a:t>이번 발표 범위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8700" y="4000500"/>
            <a:ext cx="1333500" cy="266700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" y="4038600"/>
            <a:ext cx="1333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Gothic"/>
                <a:ea typeface="AppleGothic"/>
              </a:rPr>
              <a:t>TODAY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210050" y="2857500"/>
            <a:ext cx="228600" cy="2476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76750" y="1666875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76750" y="1666875"/>
            <a:ext cx="76200" cy="2857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43450" y="1857375"/>
            <a:ext cx="95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4A261"/>
                </a:solidFill>
                <a:latin typeface="AppleGothic"/>
                <a:ea typeface="AppleGothic"/>
              </a:rPr>
              <a:t>다음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3450" y="2238375"/>
            <a:ext cx="285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A43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43450" y="2809875"/>
            <a:ext cx="2857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27D98"/>
                </a:solidFill>
                <a:latin typeface="AppleGothic"/>
                <a:ea typeface="AppleGothic"/>
              </a:rPr>
              <a:t>식 있음  ·  식+NN</a:t>
            </a:r>
          </a:p>
          <a:p>
            <a:pPr algn="l"/>
            <a:r>
              <a:rPr sz="1500" b="0">
                <a:solidFill>
                  <a:srgbClr val="627D98"/>
                </a:solidFill>
                <a:latin typeface="AppleGothic"/>
                <a:ea typeface="AppleGothic"/>
              </a:rPr>
              <a:t>라우팅 · prior-off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24800" y="2857500"/>
            <a:ext cx="228600" cy="2476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91500" y="1666875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91500" y="1666875"/>
            <a:ext cx="76200" cy="28575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1857375"/>
            <a:ext cx="95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통합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2238375"/>
            <a:ext cx="285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A43"/>
                </a:solidFill>
                <a:latin typeface="AppleGothic"/>
                <a:ea typeface="AppleGothic"/>
              </a:rPr>
              <a:t>박사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809875"/>
            <a:ext cx="2857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27D98"/>
                </a:solidFill>
                <a:latin typeface="AppleGothic"/>
                <a:ea typeface="AppleGothic"/>
              </a:rPr>
              <a:t>식 유무 분기</a:t>
            </a:r>
          </a:p>
          <a:p>
            <a:pPr algn="l"/>
            <a:r>
              <a:rPr sz="1500" b="0">
                <a:solidFill>
                  <a:srgbClr val="627D98"/>
                </a:solidFill>
                <a:latin typeface="AppleGothic"/>
                <a:ea typeface="AppleGothic"/>
              </a:rPr>
              <a:t>+ Assurance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250" y="49530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PP는 PAE의 미완성본이 아니다. 식이 없을 때의 실행기를 먼저 증명하고,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나중에 식이 있을 때(PAE)가 이 경로를 옵션으로 부른다.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연구의 위치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선행과 겹치는 지점, 그리고 식 없는 경로가 메우는 공백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627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이미 축적된 흐름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물리–신경망 결합(식 있음)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단조성·방향성 제약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불확실성 기반 예측 보류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남는 질문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지배 방정식이 없어도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경계·이력 같은 약한 가정으로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외삽을 어떻게 안전하게?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PP의 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식 없이(equation-free)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prior를 고정하고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NN이 이를 훼손하지 않게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4286250"/>
            <a:ext cx="10858500" cy="10477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7750" y="4524375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요약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" y="485775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식이 있을 때(PAE)와 없을 때(PP)를 한 프레임에 두되, 이번 논문은 식 없는 실행기부터 증명한다.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PP는 어떤 외삽 연구인가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없는 경로 — 하는 것 / 안 하는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4763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478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하는 것 (In scope)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1952625"/>
            <a:ext cx="32194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 열화의 남은수명(RUL)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개체(unit) 분리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사전 좌표의 train hull 밖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식 없는 구조 prior 실행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(SAAR / 최종 PP)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476375"/>
            <a:ext cx="35242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1500" y="14763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16478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안 하는 것 (Out)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1952625"/>
            <a:ext cx="32194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임의 tabular 만능 외삽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도메인 물리식 발견/주입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개체 단순 미래예측만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보고 prior 재선택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모든 OOD 1등 주장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476375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47637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164782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한 줄 정의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1952625"/>
            <a:ext cx="31242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unit-disjoint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out-of-support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RUL extrapolation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under equation-free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structural priors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762500"/>
            <a:ext cx="1047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외삽 좌표 예: health/capacity 끝단 · 균열 길이 · 부하(TRA)·만기 조건.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일반 ‘시간상 미래’나 분류 OOD와 문제 정의를 구분한다.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외삽 범위를 어떻게 잡았나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스플릿·평가에 넣은 규칙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3524250" cy="4000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① 계약 먼저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경계·unit·시간축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인과 입력·외삽 좌표를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데이터 이름보다 먼저 고정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1500" y="1476375"/>
            <a:ext cx="3524250" cy="4000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85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② unit 분리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85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같은 셀/시편/엔진이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train·val·test에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동시에 들어가지 않음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6250" y="1476375"/>
            <a:ext cx="3524250" cy="40005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③ train = support 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학습 unit의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관측 범위 내부 행만 사용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스케일도 train만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7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750" y="3667125"/>
            <a:ext cx="3524250" cy="4000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④ 평가는 hull 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val/test는 사전 좌표가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train convex hull 밖인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행만 남겨 점수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150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1500" y="3667125"/>
            <a:ext cx="3524250" cy="4000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485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⑤ val-only 선택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485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설정·epoch·모듈 승인은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검증만 · test 라벨로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구조 다시 고르지 않음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62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6250" y="3667125"/>
            <a:ext cx="3524250" cy="40005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⑥ 보고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주: pooled R²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보조: unit·seed·경계위반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성공과 실패를 같이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질문 세 가지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있음(PAE) · 식 없음(PP) · 믿어도 되나</a:t>
            </a:r>
          </a:p>
        </p:txBody>
      </p:sp>
      <p:pic>
        <p:nvPicPr>
          <p:cNvPr id="8" name="Picture 7" descr="prior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7239000" cy="31432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01000" y="1524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0" y="1676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1924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식이 있으면?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9875" y="1952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4A261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2667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91500" y="2819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1500" y="3067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식이 없으면?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9875" y="3095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3810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6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1500" y="3962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1500" y="4210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믿어도 되나?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9875" y="4238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63A5F"/>
                </a:solidFill>
                <a:latin typeface="AppleGothic"/>
                <a:ea typeface="AppleGothic"/>
              </a:rPr>
              <a:t>보증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4762500"/>
            <a:ext cx="10477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AppleGothic"/>
                <a:ea typeface="AppleGothic"/>
              </a:rPr>
              <a:t>기억  ·  PAE=식 있는 경로  ·  PP=식 없는 경로. 지금 논문은 Q2(PP, equation-free).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이중 경로 분기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있으면 PAE · 없으면 SAAR(PP) — 외삽의 통합 프레임</a:t>
            </a:r>
          </a:p>
        </p:txBody>
      </p:sp>
      <p:pic>
        <p:nvPicPr>
          <p:cNvPr id="8" name="Picture 7" descr="pp_pa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11239500" cy="3619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이름보다 구분: PAE는 식 뼈대 + 제한 NN  ·  PP는 식 없이 약한 prior만. 이번 주결과는 PP.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PP는 prior를 어떻게 켜나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전부 한꺼번에가 아니라, 계약상 최소 bundle만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476375"/>
            <a:ext cx="36195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원칙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952625"/>
            <a:ext cx="33147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데이터셋 이름으로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고르지 않는다.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외삽 타입·관측 가능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정보로 사전에 고정된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eligibility rule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476375"/>
            <a:ext cx="36195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440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예: 배터리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4400" y="1952625"/>
            <a:ext cx="33147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경계·방향·이력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bounded correction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rate는 causal 이력이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있을 때만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82000" y="1476375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82000" y="1476375"/>
            <a:ext cx="3048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34400" y="1647825"/>
            <a:ext cx="2743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예: tabular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4400" y="1952625"/>
            <a:ext cx="2743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affine tail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연속성·기울기 제한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거리·거절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095750"/>
            <a:ext cx="10477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규칙 예: 고장경계 관측 → boundary 허용 / causal history → history·rate 허용 /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정적 tabular만 → affine·연속성만 / 방향이 외부 정당화 → 부호 제약 / 안전 연장 불가 → 거절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성능을 보고 사람이 고르면 사후 튜닝. PP의 선택은 기계적·사전 고정이어야 PAE와 안 겹친다.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흐름: 문제 계약 → 적용 가능한 weak-prior bundle → 안전한 실행 (equation-free safeguard)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문제와 핵심 아이디어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SAAR: Support-Aware Affine–Residual Extrapolation</a:t>
            </a:r>
          </a:p>
        </p:txBody>
      </p:sp>
      <p:pic>
        <p:nvPicPr>
          <p:cNvPr id="8" name="Picture 7" descr="pp_core_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95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순서: 왜 일반 NN이 외삽에서 위험한가 → PP가 무엇을 제한하는가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모형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Frozen Affine + Dual-Scale Residual (SAAR)</a:t>
            </a:r>
          </a:p>
        </p:txBody>
      </p:sp>
      <p:pic>
        <p:nvPicPr>
          <p:cNvPr id="8" name="Picture 7" descr="p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85875"/>
            <a:ext cx="11430000" cy="447675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SAAR 핵심 수식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softplus + dual-scale residual이 자유도를 어떻게 줄이는가</a:t>
            </a:r>
          </a:p>
        </p:txBody>
      </p:sp>
      <p:pic>
        <p:nvPicPr>
          <p:cNvPr id="8" name="Picture 7" descr="pp_equ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ŷ = ŷ_affine + w(d) · B tanh(r_θ(x)/B)   ·   global path + support-adaptive bounded correction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공용 prior / 데이터별 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배터리 열화식을 미리 넣는 모델이 아니다</a:t>
            </a:r>
          </a:p>
        </p:txBody>
      </p:sp>
      <p:pic>
        <p:nvPicPr>
          <p:cNvPr id="8" name="Picture 7" descr="pp_shared_vs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3619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143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발표 멘트: 어떤 데이터셋에도 동일한 외삽 구조를 적용하고, 각 데이터셋에서는 추세와 residual만 새로 학습한다.</a:t>
            </a:r>
          </a:p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prior는 데이터셋 고유식이 아니라, 관측 밖에서 복잡한 NN 보정을 덜 신뢰한다는 공용 외삽 prior다.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학습에서 멀어질수록 보정을 줄인다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w(d): 가까운 곳은 자세히, 먼 곳은 덜 신뢰</a:t>
            </a:r>
          </a:p>
        </p:txBody>
      </p:sp>
      <p:pic>
        <p:nvPicPr>
          <p:cNvPr id="8" name="Picture 7" descr="support_adap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6858000" cy="3619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20000" y="16192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20000" y="16192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17907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왜 필요한가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0955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보정을 안 막으면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밖에서 기본 경향을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덮어쓸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20000" y="29527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20000" y="29527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31242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어떻게 하나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4290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범위에서 멀수록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허용폭을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부드럽게 바꾼다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0" y="42862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20000" y="42862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44577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그래서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7625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무한히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커지지 않고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추세 중심으로 수축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어떻게 검증하나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랜덤으로 나누지 않고, 진짜 바깥 구간을 먼저 잡는다</a:t>
            </a:r>
          </a:p>
        </p:txBody>
      </p:sp>
      <p:pic>
        <p:nvPicPr>
          <p:cNvPr id="8" name="Picture 7" descr="protoco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524000"/>
            <a:ext cx="11049000" cy="304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4953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0029"/>
                </a:solidFill>
                <a:latin typeface="AppleGothic"/>
                <a:ea typeface="AppleGothic"/>
              </a:rPr>
              <a:t>원칙: 검증 구간만으로 모델 고르기 · 테스트 정답은 보지 않기 · 개발 결과와 확인 실험은 따로 쓰기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핵심 실험 결과 (SAAR)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구조로 Sunwoda · RWTH · MICH</a:t>
            </a:r>
          </a:p>
        </p:txBody>
      </p:sp>
      <p:pic>
        <p:nvPicPr>
          <p:cNvPr id="8" name="Picture 7" descr="main_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7429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191500" y="1476375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91500" y="1476375"/>
            <a:ext cx="76200" cy="952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29625" y="1590675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평균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29625" y="1838325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A9D8F"/>
                </a:solidFill>
                <a:latin typeface="AppleGothic"/>
                <a:ea typeface="AppleGothic"/>
              </a:rPr>
              <a:t>0.842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9625" y="2162175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최고 0.934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1500" y="2571750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91500" y="2571750"/>
            <a:ext cx="76200" cy="9525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29625" y="2686050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9625" y="2933700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6F95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9625" y="3257550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1500" y="3667125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1500" y="3667125"/>
            <a:ext cx="76200" cy="952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9625" y="3781425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9625" y="4029075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4A261"/>
                </a:solidFill>
                <a:latin typeface="AppleGothic"/>
                <a:ea typeface="AppleGothic"/>
              </a:rPr>
              <a:t>0.751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9625" y="4352925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MICH (회복)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5286375"/>
            <a:ext cx="10477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논문 주표(개발 3데이터). 고정 경계형 최저 0.468 → SAAR 최저 0.751. 확증 cohort는 별도.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최신 업데이트 (2026-09)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무엇이 바뀌었고, 무엇을 아직 주장하지 않나</a:t>
            </a:r>
          </a:p>
        </p:txBody>
      </p:sp>
      <p:pic>
        <p:nvPicPr>
          <p:cNvPr id="8" name="Picture 7" descr="status_up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57200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Zn-ion에서 무엇이 달라졌나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실패 → 경로 분기 → 개발 개선 (확증 아님)</a:t>
            </a:r>
          </a:p>
        </p:txBody>
      </p:sp>
      <p:pic>
        <p:nvPicPr>
          <p:cNvPr id="8" name="Picture 7" descr="zn_ion_path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76250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점수가 오른 이유 — 정직하게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구조 혁신 vs 학습 계약·수축</a:t>
            </a:r>
          </a:p>
        </p:txBody>
      </p:sp>
      <p:pic>
        <p:nvPicPr>
          <p:cNvPr id="8" name="Picture 7" descr="score_at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57200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교차 도메인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배터리 밖 — 복구·감사 중, 통합 성공 아님</a:t>
            </a:r>
          </a:p>
        </p:txBody>
      </p:sp>
      <p:pic>
        <p:nvPicPr>
          <p:cNvPr id="8" name="Picture 7" descr="cross_domain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76250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— 무엇이 성능을 만드나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구성요소 on/off (개발 3데이터 + 대표 설정)</a:t>
            </a:r>
          </a:p>
        </p:txBody>
      </p:sp>
      <p:pic>
        <p:nvPicPr>
          <p:cNvPr id="8" name="Picture 7" descr="abl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85875"/>
            <a:ext cx="11430000" cy="476250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게이트 효과는 어떻게 확인하나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넣었다 뺐다(on/off) = 표준 ablation</a:t>
            </a:r>
          </a:p>
        </p:txBody>
      </p:sp>
      <p:pic>
        <p:nvPicPr>
          <p:cNvPr id="8" name="Picture 7" descr="gate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76250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적합도가 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밖의 점수를 미리 알 수는 없다</a:t>
            </a:r>
          </a:p>
        </p:txBody>
      </p:sp>
      <p:pic>
        <p:nvPicPr>
          <p:cNvPr id="8" name="Picture 7" descr="applicability_w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76250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 6가지 검사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허가증 — 무엇을 / 왜 보나</a:t>
            </a:r>
          </a:p>
        </p:txBody>
      </p:sp>
      <p:pic>
        <p:nvPicPr>
          <p:cNvPr id="8" name="Picture 7" descr="applicability_che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85875"/>
            <a:ext cx="11430000" cy="495300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적합도 판정 — 세 갈래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Pass / Weak / Fail</a:t>
            </a:r>
          </a:p>
        </p:txBody>
      </p:sp>
      <p:pic>
        <p:nvPicPr>
          <p:cNvPr id="8" name="Picture 7" descr="fit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76250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비유로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멘트용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524000"/>
            <a:ext cx="5334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524000"/>
            <a:ext cx="5334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95450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운전 비유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000250"/>
            <a:ext cx="50292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SAAR는 ‘고속도로용 차선 유지’ 장치.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비포장·반대차선이면 장치를 켜지 않고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멈추거나 천천히 간다.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적합도 검사 = 지금이 고속도로인지 확인.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500" y="1524000"/>
            <a:ext cx="52387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86500" y="1524000"/>
            <a:ext cx="52387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8900" y="1695450"/>
            <a:ext cx="4933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논문에서 말할 문장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900" y="2000250"/>
            <a:ext cx="49339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We do not claim accuracy before seeing labels.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We claim a test-label-free applicability check: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use SAAR only when the declared contract,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validation skill, and shift compatibility hold;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otherwise abstain.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857750"/>
            <a:ext cx="10477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연결: 게이트 on/off 실험은 이 허가증을 ‘항상 킴’ vs ‘검사 후 킴’으로 비교한 것.</a:t>
            </a:r>
          </a:p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원문: APPLICABILITY_NOVELTY_LIMITS_KO.md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수치 (matched)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Sunwoda / RWTH / MICH ensemble R²</a:t>
            </a:r>
          </a:p>
        </p:txBody>
      </p:sp>
      <p:pic>
        <p:nvPicPr>
          <p:cNvPr id="8" name="Picture 7" descr="ablation_numb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85875"/>
            <a:ext cx="11430000" cy="476250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MICH를 배터리 하나씩 보면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전체 점수만 보지 않고, 유닛마다도 양의 성능을 확인</a:t>
            </a:r>
          </a:p>
        </p:txBody>
      </p:sp>
      <p:pic>
        <p:nvPicPr>
          <p:cNvPr id="8" name="Picture 7" descr="mich_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8572500" cy="4000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334500" y="1905000"/>
            <a:ext cx="21907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34500" y="1905000"/>
            <a:ext cx="2190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86900" y="2076450"/>
            <a:ext cx="1885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포인트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86900" y="2381250"/>
            <a:ext cx="18859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8개 전부 양수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가장 어려웠던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 31도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음수에서 회복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관계가 바뀐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대표 사례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다른 방법과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잘 된 8곳 · 알고리즘별 R² (TabPFN 전체 반영)</a:t>
            </a:r>
          </a:p>
        </p:txBody>
      </p:sp>
      <p:pic>
        <p:nvPicPr>
          <p:cNvPr id="8" name="Picture 7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3825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286375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TabPFN 8곳 모두 반영. Sunwoda·RWTH는 음수, NCMAPSS는 PP와 동률권(0.934). train 상한·일부 단일 seed 보조 비교.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주요 알고리즘 막대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 / V-REx / GroupDRO / LinRBF / Engression / TabPFN</a:t>
            </a:r>
          </a:p>
        </p:txBody>
      </p:sp>
      <p:pic>
        <p:nvPicPr>
          <p:cNvPr id="8" name="Picture 7" descr="competitor_algo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원문: ALL_DATASET_EXTRAPOLATION_COMPETITORS · FAIR_PFN_COMPARISON · TABPFN_EXTERNAL_BATTERIES_RESULTS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PP와 TabPFN 직접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동일 고정 test 기준 · TabPFN은 보조 조건(행 상한 등)</a:t>
            </a:r>
          </a:p>
        </p:txBody>
      </p:sp>
      <p:pic>
        <p:nvPicPr>
          <p:cNvPr id="8" name="Picture 7" descr="pp_vs_tabp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29250"/>
            <a:ext cx="10477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MATRb2에서는 TabPFN(0.618)이 기본 PP보다 높을 수 있어, 이 분할만으로 PP 우위를 주장하지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어디서 되고, 어디서 안 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성공과 실패를 한 지도에 같이 둔다</a:t>
            </a:r>
          </a:p>
        </p:txBody>
      </p:sp>
      <p:pic>
        <p:nvPicPr>
          <p:cNvPr id="8" name="Picture 7" descr="experimen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7810500" cy="40957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72500" y="1619250"/>
            <a:ext cx="2952750" cy="1238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72500" y="161925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24900" y="179070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잘 되는 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24900" y="2095500"/>
            <a:ext cx="264795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 열화·경계 prior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검증≈테스트 방향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 3배터리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3048000"/>
            <a:ext cx="2952750" cy="1238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72500" y="304800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4900" y="321945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조심할 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4900" y="3524250"/>
            <a:ext cx="264795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Zn 장수명·교차조건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개발 점수는 있으나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확증·공정대조 남음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0" y="4476750"/>
            <a:ext cx="29527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72500" y="447675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4900" y="464820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안 되는 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4900" y="4953000"/>
            <a:ext cx="26479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FEMTO 현 설계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정보 한계(Z 미관측)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→ 거절·재설계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통계로 본 개선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일부 긴 시계열만 좋아진 것이 아님</a:t>
            </a:r>
          </a:p>
        </p:txBody>
      </p:sp>
      <p:pic>
        <p:nvPicPr>
          <p:cNvPr id="8" name="Picture 7" descr="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428750"/>
            <a:ext cx="8572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334500" y="1905000"/>
            <a:ext cx="21907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34500" y="1905000"/>
            <a:ext cx="2190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86900" y="2076450"/>
            <a:ext cx="1885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읽는 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86900" y="2381250"/>
            <a:ext cx="18859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세 데이터 모두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신뢰구간이 0 아래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초기화 5번 모두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방향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다만 도메인 수는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아직 적음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어디까지 말해도 될까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과장하지 않고, 솔직하게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꽤 확실한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SAAR로 3배터리 최저점 회복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잘 된 cohort에서 경쟁 우위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 위반 0건(해당 설정)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PAE와 결과 표 분리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조심할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핵심 표는 개발 결과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Zn 0.9대·XJTU 0.26은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사후/소표본 성격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refit·정보량 맞춰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약한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보편 pre-gate 실패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FEMTO 미성숙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통합 executor 미검증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ICML급 증거는 부족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504825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말할 때: ‘어디서나 1등’이 아니라 ‘연속 열화·경계 prior가 맞고 검증이 비슷할 때 SAAR가 안전장치로 작동한다’.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논문으로 어디를 노리나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지금 증거 강도 기준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714500"/>
            <a:ext cx="35242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7145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859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현실 본선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90750"/>
            <a:ext cx="32194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RESS · MSSP ·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IEEE Reliability/TII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분야 Q1–Q2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외삽·RUL 스토리 적합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714500"/>
            <a:ext cx="35242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7145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8859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도전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190750"/>
            <a:ext cx="32194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Applied Energy 등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배터리 특화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청구항을 Li 연속열화로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좁힐 때만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714500"/>
            <a:ext cx="35242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7145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627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8859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이름만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190750"/>
            <a:ext cx="32194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ICML / NeurIPS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Nature 계열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새 학습 원리·대규모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확증이 더 필요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762500"/>
            <a:ext cx="10477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전략  ·  PP 1편은 SAAR+3배터리(+정직한 한계). Zn·베어링은 같은 편의 주 claim에 넣지 않거나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개발/한계 절로만. ‘세계 탑’과 ‘분야 상위(Q1)’는 다른 줄.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지금 / 다음 / 박사과정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유무로 나눈 두 독립 논문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762125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2047875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0" y="1933575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equation-free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외삽 안전장치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933575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계약 → 고정 rule로 weak bundle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기계적 활성화 · 수축·거절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857500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125" y="3143250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500" y="3028950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식 뼈대 +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NN 부족분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028950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후보식 검증 → 제한 보정 학습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이득 없으면 끔 · PP/거절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952875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0125" y="4238625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박사논문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7500" y="4124325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식 있음→PAE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없음→PP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4124325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교차 도메인 · 선택적 위험 ·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미개봉 cohort 확증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5191125"/>
            <a:ext cx="10477500" cy="523875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8B00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7750" y="5334000"/>
            <a:ext cx="1009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지금: PP(SAAR)  |  Zn·교차는 한계/확장  |  다음: PAE  |  prior-free라고 쓰지 말 것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PAE 안에서 식과 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식이 있어도 부족분은 신경망이 제한적으로 메운다</a:t>
            </a:r>
          </a:p>
        </p:txBody>
      </p:sp>
      <p:pic>
        <p:nvPicPr>
          <p:cNvPr id="8" name="Picture 7" descr="pae_equation_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28637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식 = 방향·경계·관계의 뼈대  ·  NN = 미지 파라미터·잔차·노이즈  ·  식을 덮어쓰지 않게 보정 제한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한 장 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입력이 다르면 연구도 갈린다</a:t>
            </a:r>
          </a:p>
        </p:txBody>
      </p:sp>
      <p:pic>
        <p:nvPicPr>
          <p:cNvPr id="8" name="Picture 7" descr="pp_vs_pa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명칭  ·  PAE: equation prior + bounded NN   ·   PP: equation-free extrapolation safeguard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한 장 요약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오늘 가져갈 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77165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7000" y="175260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학습 밖에서는 가정이 필요하다. 식만 넣으면 답이 아니다.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428875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0125" y="2581275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67000" y="2562225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주모델 SAAR: equation-free 외삽 안전장치 (prior-free 아님).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23850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125" y="339090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증거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67000" y="337185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3배터리 개발 표가 본선. Zn·XJTU 숫자는 개발/한계로 분리.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4048125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0125" y="4200525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67000" y="4181475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결과 표와 안 겹침. 식 컴파일·라우팅은 후속.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85775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501015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다음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67000" y="499110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scale-aware / boundary-consistent quotient · 미개봉 cohort.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52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952500"/>
            <a:ext cx="809625" cy="571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38250"/>
            <a:ext cx="5715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02A43"/>
                </a:solidFill>
                <a:latin typeface="AppleGothic"/>
                <a:ea typeface="AppleGothic"/>
              </a:rPr>
              <a:t>같이 정할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900" y="1905000"/>
            <a:ext cx="476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0029"/>
                </a:solidFill>
                <a:latin typeface="AppleGothic"/>
                <a:ea typeface="AppleGothic"/>
              </a:rPr>
              <a:t>발표·논문 다듬을 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4765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253365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3500" y="251460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주표를 SAAR 3배터리만 둘지, Zn 개발 숫자를 한계 절로만 둘지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2000" y="31432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320040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3500" y="318135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XJTU 0.257·FEMTO 실패를 본문 한계로 둘지 Appendix로 뺄지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2000" y="38100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200" y="386715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3500" y="384810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투고 본선을 RESS/MSSP로 고정할지, 배터리 특화로 좁힐지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44767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200" y="453390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451485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미개봉 cohort·공정 refit MLP 대조를 언제 동결할지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900" y="5524500"/>
            <a:ext cx="8572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자료: pp-extrapolation · SAAR_NAMING · PP_INFORMATION_LIMITS · 외삽 문헌조사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7250" y="2095500"/>
            <a:ext cx="9525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4A261"/>
                </a:solidFill>
                <a:latin typeface="AppleGothic"/>
                <a:ea typeface="AppleGothic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667000"/>
            <a:ext cx="10477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AppleGothic"/>
                <a:ea typeface="AppleGothic"/>
              </a:rPr>
              <a:t>공부용 상세 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71475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8D4E3"/>
                </a:solidFill>
                <a:latin typeface="AppleGothic"/>
                <a:ea typeface="AppleGothic"/>
              </a:rPr>
              <a:t>논문처럼 문제·방법·결과·한계를 정리하고</a:t>
            </a:r>
          </a:p>
          <a:p>
            <a:pPr algn="l"/>
            <a:r>
              <a:rPr sz="2000" b="0">
                <a:solidFill>
                  <a:srgbClr val="C8D4E3"/>
                </a:solidFill>
                <a:latin typeface="AppleGothic"/>
                <a:ea typeface="AppleGothic"/>
              </a:rPr>
              <a:t>원문 파일 경로까지 연결한다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953000"/>
            <a:ext cx="8572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A261"/>
                </a:solidFill>
                <a:latin typeface="AppleGothic"/>
                <a:ea typeface="AppleGothic"/>
              </a:rPr>
              <a:t>본문(01–19)은 발표용 · 여기서부터는 복습·원고용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자료 지도 — 어디까지 연결되나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→ 실험 원문 → 문헌조사까지 한줄로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80975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발표 본문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8500" y="171450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pp_pae_total/output/PP_Research_Detailed_v2.pptx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79070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스토리·그래프·한 줄 메시지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47650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125" y="266700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실험 저장소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8500" y="257175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pp-extrapolation/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264795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프로토콜·결과 md·코드·json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33375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0125" y="352425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문헌 공부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8500" y="342900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ppt/외삽자료/ (literec_study)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0" y="350520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50분 발표·통합 ppt·paper_pdfs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19100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438150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프레임 초안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38500" y="428625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pp_pae_total/ · v7 ppt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0" y="436245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PP–PAE 큰 그림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공부 순서 추천: 외삽 문헌조사 통합 ppt → 본문 A~D → 아래 부록 표 → 해당 md 원문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논문식 요약 (Abstract 초안)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PP가 말하는 한 단락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24000"/>
            <a:ext cx="10477500" cy="40005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762125"/>
            <a:ext cx="99060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남은수명(RUL) 예측기는 학습 구간 안에서는 잘 맞아도, 관측된 열화 범위 밖에서는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행동이 통제되지 않는 경우가 많다. 본 연구(SAAR)는 안정적인 기본 경향(고정 affine)과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support-aware dual-scale residual을 분리해 equation-free 외삽 안전장치로 둔다.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경계가 관측되면 Boundary-Quotient로 고장점 RUL=0을 강제한다. 주 개발 표는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Sunwoda·RWTH·MICH이며, Zn-ion·베어링 확장은 한계·개발 결과로 분리 보고한다.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PAE(식 컴파일)와는 결과 표를 공유하지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334000"/>
            <a:ext cx="9906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PP_FIRST_PUBLICATION_CLAIMS_KO · UNIFIED_DUAL_SCALE · PP_INFORMATION_LIMITS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문제 정의 (Methods)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무엇을 외삽이라고 부르는가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1. 개체 분리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배터리·시편이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학습과 테스트에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동시에 들어가지 않음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6625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6625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9025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2. 범위 밖만 평가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9025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학습이 본 열화 좌표의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바깥(끝단)만 테스트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안쪽은 점수에 안 넣음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6500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86500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900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3. 정답 미사용 선택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8900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설정·보정은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구간만으로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정답은 안 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6375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96375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48775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4. 보고 지표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8775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주: 전체 설명력 R²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보조: 유닛별·재학습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 위반 횟수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4762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원문: MODEL_AND_SPLIT_KO.md · ADDITIONAL_REAL_DATASETS_PROTOCOL.md · DISTANCE_SHELL_PROTOCOL.md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5286375"/>
            <a:ext cx="10477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핵심: 일반 ‘미래 예측’과 다르게, 처음 보는 개체의 학습 밖 구간만 본다.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데이터셋 한눈에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도메인 · 무엇을 추론하나 · 외삽 타입</a:t>
            </a:r>
          </a:p>
        </p:txBody>
      </p:sp>
      <p:pic>
        <p:nvPicPr>
          <p:cNvPr id="8" name="Picture 7" descr="dataset_cat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85875"/>
            <a:ext cx="11430000" cy="495300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각 데이터셋이 무엇인가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출처·측정·왜 RUL 문제인가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2714625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0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리튬배터리 수명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서로 다른 충전 프로토콜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용량 궤적 → 남은 cycle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42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4250" y="1476375"/>
            <a:ext cx="2714625" cy="381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85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85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금속 피로 균열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시편별 균열 성장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임계 길이까지 잔여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17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1476375"/>
            <a:ext cx="2714625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60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60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공개 배터리 aging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셀별 용량 fade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건강도 끝단 RUL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92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9250" y="1476375"/>
            <a:ext cx="2714625" cy="3810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35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535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상용 셀 cohort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early/late health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셀 늦은 구간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6750" y="3667125"/>
            <a:ext cx="2714625" cy="3810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10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0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실험실 배터리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온도·조건 다양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셀 끝단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242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24250" y="3667125"/>
            <a:ext cx="2714625" cy="3810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385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85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배터리 새 regime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관계 이동이 큼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통합 SAAR 회복 사례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817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81750" y="3667125"/>
            <a:ext cx="2714625" cy="381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60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MATR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60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대규모 셀 데이터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batch/연도 분할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먼·가까운 health 꼬리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392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39250" y="3667125"/>
            <a:ext cx="2714625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535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535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항공기 엔진 시뮬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부하·수명 교차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엔진×고부하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데이터마다 어떻게 쪼갰나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공통 규칙 + 데이터별 외삽 좌표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28750"/>
            <a:ext cx="76200" cy="2095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2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Train: 본 프로토콜 unit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Test: 안 본 프로토콜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깊은 미래 health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hull-out 100%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42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4250" y="1428750"/>
            <a:ext cx="76200" cy="2095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47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47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Train/Test: 시편 분리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균열 길이 끝단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성장 방향 유지 구간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17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1428750"/>
            <a:ext cx="76200" cy="20955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22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NASA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22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Leave-one-battery-out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용량/health 끝단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fold 예측 후 pooled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92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9250" y="1428750"/>
            <a:ext cx="76200" cy="20955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297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97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Early-life unit → train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Late-health 안 본 셀 → test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health (멀~4.4SD)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6750" y="3667125"/>
            <a:ext cx="76200" cy="20955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72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2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Unit 분리 + late health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val은 pseudo-tail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health (~2.9SD)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242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24250" y="3667125"/>
            <a:ext cx="76200" cy="20955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147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147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Unit 분리 + late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margin 변동이 train 밖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관계 이동 스트레스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817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81750" y="3667125"/>
            <a:ext cx="76200" cy="2095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722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MATR19/b2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722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Unseen cell tail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2019=먼 꼬리 / b2=가까움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출력 transport 검토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392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39250" y="3667125"/>
            <a:ext cx="76200" cy="2095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297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297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Unseen engine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× high TRA × late life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짧은 조건 hull 밖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어떻게 나누나 (공통 규칙)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데이터셋 이름이 아니라 계약·hull로 고정</a:t>
            </a:r>
          </a:p>
        </p:txBody>
      </p:sp>
      <p:pic>
        <p:nvPicPr>
          <p:cNvPr id="8" name="Picture 7" descr="datase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원문: MODEL_AND_SPLIT_KO.md · ADDITIONAL_REAL_DATASETS_PROTOCOL.md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무엇을 추론하고, 언제 잘 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타깃 · 입력 · 성공/실패 지도</a:t>
            </a:r>
          </a:p>
        </p:txBody>
      </p:sp>
      <p:pic>
        <p:nvPicPr>
          <p:cNvPr id="8" name="Picture 7" descr="dataset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95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5245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말할 때: ‘어디서나 1등’이 아니라 ‘경계·방향이 맞고 val/test 이동이 비슷할 때’.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잘 된 설정 — 스플릿·입력·해석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양의 8곳 (요약)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프로토콜 unit · hull-out 100% · 거리~1.6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용량·이력 → RUL (깊은 끝단)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경계·방향 안정 · PP 0.958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150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150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85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시편 · 균열 끝단 · hull-out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균열 좌표·성장 → 잔여 수명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성장 방향과 맞을 때 · 0.888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62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625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건강도 끝단 · LOBO 집계 · 거리~2.0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용량 궤적 → RUL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양수이나 격차 작음 · 0.584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675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01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early unit → late-health cell · 거리~4.4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health/rate window → RUL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먼 꼬리에서도 양수 · 0.865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150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8150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1485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485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unit 분리 + 늦은 health · 거리~2.9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1485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동일 입력 계약 → RUL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485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통합·보정 후 · 0.743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62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9625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엔진 × 고부하 × late · 짧은 거리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조건·센서 요약 → cycle RUL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짧은 조건 외삽 · 0.937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특수·실패 설정 — 왜 그런가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규칙으로도 안 되는 경우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76200" cy="20002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5350" y="162877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MATR2019 / batch2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50" y="204787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본 셀의 health 꼬리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2019는 먼 꼬리(~5.6 SD)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batch2는 상대적으로 가까움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50" y="266700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기본 PP 약함 →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출력 보정 후 0.466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batch2는 양수이나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NN/TabPFN과 경합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500" y="147637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6500" y="1476375"/>
            <a:ext cx="76200" cy="20002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5100" y="162877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MICH (통합)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5100" y="204787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본 셀 + 새 regime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margin 변동이 train 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5100" y="266700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기본 PP −1.52 실패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경계·dual-scale로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0.751 · 8/8 unit 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6750" y="366712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6750" y="3667125"/>
            <a:ext cx="76200" cy="200025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5350" y="381952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XJTU / FEMTO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5350" y="423862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베어링·미접촉 cohort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끝점 희소 / 방향 불일치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350" y="485775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전 방법 음수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옮기지 않거나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거절이 정직한 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6500" y="366712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6500" y="3667125"/>
            <a:ext cx="76200" cy="20002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5100" y="381952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NASA milling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5100" y="423862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재료 1→2 전이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unit 극소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5100" y="485775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메커니즘 게이트가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실패를 사전 탐지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점수 −4.8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요약 (공부용)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본문 C절과 동일 메시지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8250" y="1581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핵심: frozen affine + nonlinear residual (둘 다 필요)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190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8250" y="2152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Fixed bound: Sun/RWTH ↑, MICH ↓ → dual-scale로 worst 회복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762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2724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Full rate history: Sun/RWTH 필수, MICH는 단순 history 반례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33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295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Transport: HUST +0.13, MATRb2 +0.19 수준 기여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905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867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Evidence gate: 13설정에서 악화 0 — 틀린 모듈 거절이 역할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476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4438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원문: FINAL_PP_COMPONENT_ABLATION_RESULTS_KO.md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 체크리스트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허가증이지 성적표가 아니다</a:t>
            </a:r>
          </a:p>
        </p:txBody>
      </p:sp>
      <p:pic>
        <p:nvPicPr>
          <p:cNvPr id="8" name="Picture 7" descr="applicability_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85875"/>
            <a:ext cx="11430000" cy="495300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방법 상세 (최종 SAAR)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수식 하나 + 공용 구조</a:t>
            </a:r>
          </a:p>
        </p:txBody>
      </p:sp>
      <p:pic>
        <p:nvPicPr>
          <p:cNvPr id="8" name="Picture 7" descr="method_saar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85875"/>
            <a:ext cx="11430000" cy="495300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1. 통합 모델 비교 (개발 3데이터)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구조·설정을 Sunwoda / RWTH / MICH에 공동 적용</a:t>
            </a:r>
          </a:p>
        </p:txBody>
      </p:sp>
      <p:pic>
        <p:nvPicPr>
          <p:cNvPr id="8" name="Picture 7" descr="unified_model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85875"/>
            <a:ext cx="11430000" cy="476250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2. 잘 된 8곳 — 알고리즘별 R²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TabPFN 8곳 전체 반영</a:t>
            </a:r>
          </a:p>
        </p:txBody>
      </p:sp>
      <p:pic>
        <p:nvPicPr>
          <p:cNvPr id="8" name="Picture 7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3825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보조 비교(train 상한). MATRb2만으로 PP 우위를 주장하지 않음.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3. 실패 설정 — 적용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모든 방법이 음수인 경우도 논문에 남긴다</a:t>
            </a:r>
          </a:p>
        </p:txBody>
      </p:sp>
      <p:pic>
        <p:nvPicPr>
          <p:cNvPr id="8" name="Picture 7" descr="fail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57200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사례 연구: MICH 회복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기본 PP −1.522 → 경계형 0.468 → 최종 통합 0.751</a:t>
            </a:r>
          </a:p>
        </p:txBody>
      </p:sp>
      <p:pic>
        <p:nvPicPr>
          <p:cNvPr id="8" name="Picture 7" descr="mich_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428750"/>
            <a:ext cx="7429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86750" y="1619250"/>
            <a:ext cx="3238500" cy="1333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86750" y="1619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150" y="1790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무슨 일이었나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9150" y="2095500"/>
            <a:ext cx="2933700" cy="742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건강도–남은수명 관계가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집단과 달라져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꺼졌다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6750" y="3143250"/>
            <a:ext cx="3238500" cy="1333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86750" y="3143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314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무엇을 바꿨나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150" y="3619500"/>
            <a:ext cx="2933700" cy="742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경계를 몫으로 두고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기본경향 고정 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상한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86750" y="4667250"/>
            <a:ext cx="3238500" cy="857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86750" y="4667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838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한계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150" y="5143500"/>
            <a:ext cx="29337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 31은 여전히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가장 어렵고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완전 해결은 아님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통계 근거 (Results 보강)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알고리즘 안정성 + 유닛 단위 효과</a:t>
            </a:r>
          </a:p>
        </p:txBody>
      </p:sp>
      <p:pic>
        <p:nvPicPr>
          <p:cNvPr id="8" name="Picture 7" descr="stats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76250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기여 / 비기여 (논문 경계)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심사에서 바로 물어보는 것</a:t>
            </a:r>
          </a:p>
        </p:txBody>
      </p:sp>
      <p:pic>
        <p:nvPicPr>
          <p:cNvPr id="8" name="Picture 7" descr="claim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76250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공부 체크리스트 — 파일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읽을 순서대로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① 문헌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ppt/외삽자료/extrapolation-papers/외삽_문헌조사_통합.pptx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 외삽_50분_장표별_설명_v5.md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② 문제·분할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pp-extrapolation/MODEL_AND_SPLIT_KO.md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③ 최종 결과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UNIFIED_SUPPORT_GATED_PP_RESULTS_KO.md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BOUNDARY_QUOTIENT_PP_RESULTS_KO.md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200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④ 경쟁·실패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ALL_DATASET_EXTRAPOLATION_COMPETITORS_KO.md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ENGRESSION_GP_EXTRAPOLATION_RESULTS_KO.md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675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47675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915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⑤ 통계·노벨티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915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STATISTICAL_NOVELTY_EVIDENCE_KO.md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NOVELTY_LITERATURE_AUDIT_KO.md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9150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9150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4390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⑥ 확증·한계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390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MATR_BATCH2_CONFIRMATORY_RESULTS_KO.md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APPLICABILITY_NOVELTY_LIMITS_KO.md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실험 원문 색인 (더 보고 싶을 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주제 → 파일명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811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5375" y="15240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기본 PP 프로토콜 · ADDITIONAL_REAL_DATASETS_PROTOCOL / RESULTS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0383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5375" y="19812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교차 비교 · ALL_DATASET_COMPARISON_KO · CROSS_DATASET_PP_FT_*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4955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5375" y="24384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보정·합의 · OUTPUT_CALIBRATION_CROSS_DATASET · STATISTICAL_NOVELTY_*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9527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5375" y="28956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거리·껍질 · HULL_EXTRAPOLATION_QUANTIFICATION · DISTANCE_SHELL_*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4099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5375" y="33528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선택 거절 · SELECTIVE_GATE_RESULTS · APPLICABILITY_*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38671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5375" y="38100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미접촉 확인 · XJTU_UNTOUCHED_* · OXFORD_* · MATR_BATCH2_* · MATR_2019_*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3243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5375" y="42672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엔진/균열 · NCMAPSS_PP_COMPARISON · FEMTO_* · MILLING_*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7250" y="47815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5375" y="47244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프레임 전체 · ASSUMPTION_AWARE_EXTRAPOLATION_PROGRAM_KO · PAE_PP_*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문헌조사와 PP의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50분 발표에서 가져온 것 / PP로 이어진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619250"/>
            <a:ext cx="51435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619250"/>
            <a:ext cx="5143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90700"/>
            <a:ext cx="4838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문헌에서 배운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95500"/>
            <a:ext cx="48387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밖 = 가정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ReLU는 직선으로 이어짐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강한 식은 틀리면 위험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범위 밖으로 검증해야 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모르면 불확실성·거절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500" y="1619250"/>
            <a:ext cx="51435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86500" y="1619250"/>
            <a:ext cx="5143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8900" y="1790700"/>
            <a:ext cx="4838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PP로 옮긴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900" y="2095500"/>
            <a:ext cx="48387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가정만 쓰기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 경향을 직선적으로 고정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보정은 상한으로 막기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개체 분리 + 범위 밖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되면 보정 안 함/거절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504825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연결 파일: ppt/외삽자료/.../외삽_50분_장표별_설명_v5.md · INDEX.md · paper_pdfs/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추천 PPT: 외삽_문헌조사_통합.pptx (먼저) → 본 자료 본문 → 이 부록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 목차 초안 (공부용)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쓰고 싶은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716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7049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1 Intro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16859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학습 밖 RUL · 가정 문제 · 기여 3개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2383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0125" y="23717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2 Related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23526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hybrid/PINN · selective · hull 검증 · 우리 자리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9051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125" y="30384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3 Problem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8000" y="30194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개체 분리 · 범위 밖 · 지표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35718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0125" y="37052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4 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8000" y="36861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기본경향+보정 · 경계형 · 승인 규칙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2386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43719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5 Experiments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3529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표1 통합 · 표2 경쟁 · 표3 실패 · 통계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7250" y="49053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0125" y="50387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6 Discussion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000" y="50196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적용 조건 · 한계 · PAE 컴파일로의 연결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부록 사용법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/ 공부 / 원고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72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96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발표할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96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본문만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질문 시 데이터셋·표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공부할 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데이터셋→스플릿→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성공/실패→결과 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원고 쓸 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Methods=스플릿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Results=표1–3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572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고정본(단일): pp_pae_total/output/PP_Research_Detailed_v2.pptx</a:t>
            </a:r>
          </a:p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실험 원문 루트: Desktop/연구/pp-extrapolation/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53340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끝. 새 버전 파일은 만들지 않고 이 파일만 갱신한다.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Assumption-Aware Extrapolation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