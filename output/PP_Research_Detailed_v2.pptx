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552450"/>
            <a:ext cx="3048000" cy="60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52500" y="22860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222222"/>
                </a:solidFill>
                <a:latin typeface="Arial"/>
                <a:ea typeface="AppleGothic"/>
              </a:rPr>
              <a:t>가정 인식형 외삽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500" y="28575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  <a:ea typeface="AppleGothic"/>
              </a:rPr>
              <a:t>Assumption-Aware Extrapolation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34290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식 없는 경로  ·  SAAR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4381500"/>
            <a:ext cx="10287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Smart Production Systems Lab.  ·  박사과정 박형배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48577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2026.09.09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루트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외삽을 범용화하고, 식 유무로 경로만 가른다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52500"/>
            <a:ext cx="11239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밖을 지탱하는 것은 데이터가 아니라 가정이다.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81125"/>
            <a:ext cx="11239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Arial"/>
                <a:ea typeface="AppleGothic"/>
              </a:rPr>
              <a:t>입력: 관측  ·  경계  ·  도메인 지식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09750"/>
            <a:ext cx="11239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분기: 후보식이 정당화되는가?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2286000"/>
          <a:ext cx="112776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6985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분기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경로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단계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98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YES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허용된 식 + 제한 NN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다음 논문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98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72B2"/>
                          </a:solidFill>
                          <a:latin typeface="Arial"/>
                          <a:ea typeface="AppleGothic"/>
                        </a:rPr>
                        <a:t>NO</a:t>
                      </a:r>
                    </a:p>
                  </a:txBody>
                  <a:tcPr anchor="ctr"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72B2"/>
                          </a:solidFill>
                          <a:latin typeface="Arial"/>
                          <a:ea typeface="AppleGothic"/>
                        </a:rPr>
                        <a:t>SAAR</a:t>
                      </a:r>
                    </a:p>
                  </a:txBody>
                  <a:tcPr anchor="ctr"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72B2"/>
                          </a:solidFill>
                          <a:latin typeface="Arial"/>
                          <a:ea typeface="AppleGothic"/>
                        </a:rPr>
                        <a:t>동결 affine + dual-scale residual</a:t>
                      </a:r>
                    </a:p>
                  </a:txBody>
                  <a:tcPr anchor="ctr"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72B2"/>
                          </a:solidFill>
                          <a:latin typeface="Arial"/>
                          <a:ea typeface="AppleGothic"/>
                        </a:rPr>
                        <a:t>이번 발표 / 논문 1</a:t>
                      </a:r>
                    </a:p>
                  </a:txBody>
                  <a:tcPr anchor="ctr">
                    <a:solidFill>
                      <a:srgbClr val="E8F1F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4762500"/>
            <a:ext cx="11239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Arial"/>
                <a:ea typeface="AppleGothic"/>
              </a:rPr>
              <a:t>Assurance: 믿기 / 보류 / 거절  →  박사논문에서 두 경로 통합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Assumption-Aware Extrapolation  ·  SAAR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2/11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support 밖에서는 가정이 예측을 가른다</a:t>
            </a:r>
          </a:p>
        </p:txBody>
      </p:sp>
      <p:pic>
        <p:nvPicPr>
          <p:cNvPr id="6" name="Picture 5" descr="nn_vs_saa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904875"/>
            <a:ext cx="10477500" cy="49530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Assumption-Aware Extrapolation  ·  SAAR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3/11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방법 — SAAR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equation-free  ·  Support-Aware Affine–Residual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7750"/>
            <a:ext cx="11239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ŷ = m · softplus( ℓ(z) + cθ(z) 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24000"/>
            <a:ext cx="11239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66666"/>
                </a:solidFill>
                <a:latin typeface="Arial"/>
                <a:ea typeface="AppleGothic"/>
              </a:rPr>
              <a:t>cθ = w·B_L tanh(rθ) + (1−w)·B_H tanh(rθ/B_H)   ·   B_L=2, B_H=6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62000" y="2190750"/>
          <a:ext cx="106680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34000"/>
                <a:gridCol w="5334000"/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항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역할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 / 스케일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ℓ(z)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동결 affine — 밖으로도 폭주하지 않는 기본 추세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residual — 가까우면 세밀, 멀면 유한 포화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w(d)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support 거리 gate — 멀수록 NN 보정 감쇠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Assumption-Aware Extrapolation  ·  SAAR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4/11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지금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3배터리 주표</a:t>
            </a:r>
          </a:p>
        </p:txBody>
      </p:sp>
      <p:pic>
        <p:nvPicPr>
          <p:cNvPr id="6" name="Picture 5" descr="summary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047750"/>
            <a:ext cx="5905500" cy="40005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1524000"/>
          <a:ext cx="47625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1250"/>
                <a:gridCol w="2381250"/>
              </a:tblGrid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Dataset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0.842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0072B2"/>
                          </a:solidFill>
                          <a:latin typeface="Arial"/>
                          <a:ea typeface="AppleGothic"/>
                        </a:rPr>
                        <a:t>Mean</a:t>
                      </a:r>
                    </a:p>
                  </a:txBody>
                  <a:tcPr anchor="ctr"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0072B2"/>
                          </a:solidFill>
                          <a:latin typeface="Arial"/>
                          <a:ea typeface="AppleGothic"/>
                        </a:rPr>
                        <a:t>0.842</a:t>
                      </a:r>
                    </a:p>
                  </a:txBody>
                  <a:tcPr anchor="ctr">
                    <a:solidFill>
                      <a:srgbClr val="E8F1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0" y="4476750"/>
            <a:ext cx="4762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만능 SOTA 아님  ·  PAE는 이번 표에 없음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Assumption-Aware Extrapolation  ·  SAAR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5/11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같은 구조 · Sunwoda / RWTH / MICH</a:t>
            </a:r>
          </a:p>
        </p:txBody>
      </p:sp>
      <p:pic>
        <p:nvPicPr>
          <p:cNvPr id="6" name="Picture 5" descr="result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04875"/>
            <a:ext cx="6667500" cy="4572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239000" y="1238250"/>
          <a:ext cx="4476750" cy="2857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6125"/>
                <a:gridCol w="746125"/>
                <a:gridCol w="746125"/>
                <a:gridCol w="746125"/>
                <a:gridCol w="746125"/>
                <a:gridCol w="746125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Model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Mean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Min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Unbounded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0.718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0.718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Distance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0.736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0.736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72B2"/>
                          </a:solidFill>
                          <a:latin typeface="Arial"/>
                          <a:ea typeface="AppleGothic"/>
                        </a:rPr>
                        <a:t>SAAR</a:t>
                      </a:r>
                    </a:p>
                  </a:txBody>
                  <a:tcPr anchor="ctr"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72B2"/>
                          </a:solidFill>
                          <a:latin typeface="Arial"/>
                          <a:ea typeface="AppleGothic"/>
                        </a:rPr>
                        <a:t>0.934</a:t>
                      </a:r>
                    </a:p>
                  </a:txBody>
                  <a:tcPr anchor="ctr"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72B2"/>
                          </a:solidFill>
                          <a:latin typeface="Arial"/>
                          <a:ea typeface="AppleGothic"/>
                        </a:rPr>
                        <a:t>0.842</a:t>
                      </a:r>
                    </a:p>
                  </a:txBody>
                  <a:tcPr anchor="ctr"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72B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72B2"/>
                          </a:solidFill>
                          <a:latin typeface="Arial"/>
                          <a:ea typeface="AppleGothic"/>
                        </a:rPr>
                        <a:t>0.842</a:t>
                      </a:r>
                    </a:p>
                  </a:txBody>
                  <a:tcPr anchor="ctr"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72B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E8F1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239000" y="4381500"/>
            <a:ext cx="44767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최저(MICH)를 살린 tradeoff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Assumption-Aware Extrapolation  ·  SAAR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6/11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Fixed→SAAR  ·  (b) mean–min tradeoff</a:t>
            </a:r>
          </a:p>
        </p:txBody>
      </p:sp>
      <p:pic>
        <p:nvPicPr>
          <p:cNvPr id="6" name="Picture 5" descr="abl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904875"/>
            <a:ext cx="11239500" cy="49530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Assumption-Aware Extrapolation  ·  SAAR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7/11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heatmap  ·  (b) SAAR vs TabPFN vs others</a:t>
            </a:r>
          </a:p>
        </p:txBody>
      </p:sp>
      <p:pic>
        <p:nvPicPr>
          <p:cNvPr id="6" name="Picture 5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781050"/>
            <a:ext cx="11239500" cy="3429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81000" y="4333875"/>
          <a:ext cx="114300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  <a:gridCol w="1270000"/>
                <a:gridCol w="1270000"/>
                <a:gridCol w="1270000"/>
                <a:gridCol w="1270000"/>
                <a:gridCol w="1270000"/>
              </a:tblGrid>
              <a:tr h="21166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Dataset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SAAR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V-REx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G-DRO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Mono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LinRBF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Engr.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GP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TabPFN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211666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-0.32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11666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0.554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0.565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0.805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0.552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0.621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211666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0.285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-0.69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11666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-0.24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-0.30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-0.05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0.838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0.619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-1.60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-0.89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211666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0.645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0.602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-0.01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0.385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-0.47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-2.18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11666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0.044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0.272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0.018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-2.64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-0.73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-2.46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211666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0.674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-0.78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0.618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1167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NCMAPSS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Assumption-Aware Extrapolation  ·  SAAR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8/11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bootstrap CI  ·  (b) MICH unit R²</a:t>
            </a:r>
          </a:p>
        </p:txBody>
      </p:sp>
      <p:pic>
        <p:nvPicPr>
          <p:cNvPr id="6" name="Picture 5" descr="robustnes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952500"/>
            <a:ext cx="11239500" cy="4762500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Assumption-Aware Extrapolation  ·  SAAR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9/11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실패 ·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표로 남긴 한계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47750"/>
          <a:ext cx="11277600" cy="2190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Base PP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Interpretation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Action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 (base)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-1.522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관계 이동 · 보정 꺼짐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경계+dual-scale → 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XJTU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-1.229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val/test 이동 반대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 / 옮기지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FEMTO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-1.378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끝점 희소 · 채널 이슈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설계 미성숙 · 보류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milling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-4.826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메커니즘 전이 · unit 극소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사전 Fail / ABSTAIN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Claim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Main scores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0.934 / 0.842 / 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Scope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연속 열화 · unit-disjoint · hull-out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Method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affine + dual-scale 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Venue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분야 Q1–Q2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86500" y="3619500"/>
          <a:ext cx="54483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150"/>
                <a:gridCol w="27241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Not claimed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Zn / 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사후 개발 — untouched 확증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Cross-domain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XJTU · FEMTO 우월성 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 라우팅 실험 없음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Universal SOTA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모든 OOD 1등 아님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Assumption-Aware Extrapolation  ·  SAAR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10/11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경로와 한 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같은 외삽, 다른 입력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47750"/>
          <a:ext cx="112776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5334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/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SAAR (equation-free)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PAE (equation-aware)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입력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명시적 도메인 식 없음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후보식 검증 후 사용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구조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동결 affine + dual-scale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 + 제한 NN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실패 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 / identity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끔 → SAAR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단계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이번 발표 · 논문 1 주결과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다음 논문 · 이번 표와 분리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191000"/>
            <a:ext cx="11239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1  밖을 지탱하는 것은 가정이지만, 식만 넣으면 답이 아니다.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67250"/>
            <a:ext cx="11239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2  식이 없으면 SAAR.  주표 0.934 / 0.842 / 0.751.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143500"/>
            <a:ext cx="11239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3  실패·Zn·PAE는 한계/후속. 만능 SOTA를 주장하지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Assumption-Aware Extrapolation  ·  SAAR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11/11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