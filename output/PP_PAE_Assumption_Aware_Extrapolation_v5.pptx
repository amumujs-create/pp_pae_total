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23bcb76c344877" /><Relationship Type="http://schemas.openxmlformats.org/officeDocument/2006/relationships/extended-properties" Target="/docProps/app.xml" Id="R61622a0c39264efb" /><Relationship Type="http://schemas.openxmlformats.org/officeDocument/2006/relationships/officeDocument" Target="/ppt/presentation.xml" Id="Raf382a53229646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52b338169b4bb3"/>
  </p:sldMasterIdLst>
  <p:notesMasterIdLst>
    <p:notesMasterId xmlns:r="http://schemas.openxmlformats.org/officeDocument/2006/relationships" r:id="R15d3f102dcc44d8c"/>
  </p:notesMasterIdLst>
  <p:sldIdLst>
    <p:sldId xmlns:r="http://schemas.openxmlformats.org/officeDocument/2006/relationships" id="256" r:id="Re65dca6eaf1f4462"/>
    <p:sldId xmlns:r="http://schemas.openxmlformats.org/officeDocument/2006/relationships" id="257" r:id="R42c062271c6549dc"/>
    <p:sldId xmlns:r="http://schemas.openxmlformats.org/officeDocument/2006/relationships" id="258" r:id="R2889fdb599d943a5"/>
    <p:sldId xmlns:r="http://schemas.openxmlformats.org/officeDocument/2006/relationships" id="259" r:id="R2c781806cb5f45f3"/>
    <p:sldId xmlns:r="http://schemas.openxmlformats.org/officeDocument/2006/relationships" id="260" r:id="R4681136e8c724bdf"/>
    <p:sldId xmlns:r="http://schemas.openxmlformats.org/officeDocument/2006/relationships" id="261" r:id="Rac907a9fe45146ef"/>
    <p:sldId xmlns:r="http://schemas.openxmlformats.org/officeDocument/2006/relationships" id="262" r:id="R85193bf438bf4ac0"/>
    <p:sldId xmlns:r="http://schemas.openxmlformats.org/officeDocument/2006/relationships" id="263" r:id="Rde3804c58b6a4ff7"/>
    <p:sldId xmlns:r="http://schemas.openxmlformats.org/officeDocument/2006/relationships" id="264" r:id="R9d8440efefc14aa5"/>
    <p:sldId xmlns:r="http://schemas.openxmlformats.org/officeDocument/2006/relationships" id="265" r:id="R0b9ce69f85bc4f2f"/>
    <p:sldId xmlns:r="http://schemas.openxmlformats.org/officeDocument/2006/relationships" id="266" r:id="Rdccfe8cf13674620"/>
    <p:sldId xmlns:r="http://schemas.openxmlformats.org/officeDocument/2006/relationships" id="267" r:id="Rfa20d6a6120f46dc"/>
    <p:sldId xmlns:r="http://schemas.openxmlformats.org/officeDocument/2006/relationships" id="268" r:id="R975046b5a75f4c5b"/>
    <p:sldId xmlns:r="http://schemas.openxmlformats.org/officeDocument/2006/relationships" id="269" r:id="R4fa5b11e35f84c91"/>
    <p:sldId xmlns:r="http://schemas.openxmlformats.org/officeDocument/2006/relationships" id="270" r:id="R67b7d2ce36fd426c"/>
    <p:sldId xmlns:r="http://schemas.openxmlformats.org/officeDocument/2006/relationships" id="271" r:id="Ra93adbce103442d8"/>
    <p:sldId xmlns:r="http://schemas.openxmlformats.org/officeDocument/2006/relationships" id="272" r:id="Ra960d19aebb94385"/>
    <p:sldId xmlns:r="http://schemas.openxmlformats.org/officeDocument/2006/relationships" id="273" r:id="Rbd839e869ad74d27"/>
    <p:sldId xmlns:r="http://schemas.openxmlformats.org/officeDocument/2006/relationships" id="274" r:id="R959def24650447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3661e20fe3455e" /><Relationship Type="http://schemas.openxmlformats.org/officeDocument/2006/relationships/slideMaster" Target="/ppt/slideMasters/slideMaster1.xml" Id="Rc952b338169b4bb3" /><Relationship Type="http://schemas.openxmlformats.org/officeDocument/2006/relationships/notesMaster" Target="/ppt/notesMasters/notesMaster1.xml" Id="R15d3f102dcc44d8c" /><Relationship Type="http://schemas.openxmlformats.org/officeDocument/2006/relationships/presProps" Target="/ppt/presProps.xml" Id="R7c4c889c1ab0452a" /><Relationship Type="http://schemas.openxmlformats.org/officeDocument/2006/relationships/tableStyles" Target="/ppt/tableStyles.xml" Id="R064a92cf5e8d416d" /><Relationship Type="http://schemas.openxmlformats.org/officeDocument/2006/relationships/slide" Target="/ppt/slides/slide1.xml" Id="Re65dca6eaf1f4462" /><Relationship Type="http://schemas.openxmlformats.org/officeDocument/2006/relationships/slide" Target="/ppt/slides/slide2.xml" Id="R42c062271c6549dc" /><Relationship Type="http://schemas.openxmlformats.org/officeDocument/2006/relationships/slide" Target="/ppt/slides/slide3.xml" Id="R2889fdb599d943a5" /><Relationship Type="http://schemas.openxmlformats.org/officeDocument/2006/relationships/slide" Target="/ppt/slides/slide4.xml" Id="R2c781806cb5f45f3" /><Relationship Type="http://schemas.openxmlformats.org/officeDocument/2006/relationships/slide" Target="/ppt/slides/slide5.xml" Id="R4681136e8c724bdf" /><Relationship Type="http://schemas.openxmlformats.org/officeDocument/2006/relationships/slide" Target="/ppt/slides/slide6.xml" Id="Rac907a9fe45146ef" /><Relationship Type="http://schemas.openxmlformats.org/officeDocument/2006/relationships/slide" Target="/ppt/slides/slide7.xml" Id="R85193bf438bf4ac0" /><Relationship Type="http://schemas.openxmlformats.org/officeDocument/2006/relationships/slide" Target="/ppt/slides/slide8.xml" Id="Rde3804c58b6a4ff7" /><Relationship Type="http://schemas.openxmlformats.org/officeDocument/2006/relationships/slide" Target="/ppt/slides/slide9.xml" Id="R9d8440efefc14aa5" /><Relationship Type="http://schemas.openxmlformats.org/officeDocument/2006/relationships/slide" Target="/ppt/slides/slide10.xml" Id="R0b9ce69f85bc4f2f" /><Relationship Type="http://schemas.openxmlformats.org/officeDocument/2006/relationships/slide" Target="/ppt/slides/slide11.xml" Id="Rdccfe8cf13674620" /><Relationship Type="http://schemas.openxmlformats.org/officeDocument/2006/relationships/slide" Target="/ppt/slides/slide12.xml" Id="Rfa20d6a6120f46dc" /><Relationship Type="http://schemas.openxmlformats.org/officeDocument/2006/relationships/slide" Target="/ppt/slides/slide13.xml" Id="R975046b5a75f4c5b" /><Relationship Type="http://schemas.openxmlformats.org/officeDocument/2006/relationships/slide" Target="/ppt/slides/slide14.xml" Id="R4fa5b11e35f84c91" /><Relationship Type="http://schemas.openxmlformats.org/officeDocument/2006/relationships/slide" Target="/ppt/slides/slide15.xml" Id="R67b7d2ce36fd426c" /><Relationship Type="http://schemas.openxmlformats.org/officeDocument/2006/relationships/slide" Target="/ppt/slides/slide16.xml" Id="Ra93adbce103442d8" /><Relationship Type="http://schemas.openxmlformats.org/officeDocument/2006/relationships/slide" Target="/ppt/slides/slide17.xml" Id="Ra960d19aebb94385" /><Relationship Type="http://schemas.openxmlformats.org/officeDocument/2006/relationships/slide" Target="/ppt/slides/slide18.xml" Id="Rbd839e869ad74d27" /><Relationship Type="http://schemas.openxmlformats.org/officeDocument/2006/relationships/slide" Target="/ppt/slides/slide19.xml" Id="R959def24650447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0294383b4e44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5b2a69c5e649d6" /><Relationship Type="http://schemas.openxmlformats.org/officeDocument/2006/relationships/notesMaster" Target="/ppt/notesMasters/notesMaster1.xml" Id="R7bdcaaac50434e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fa8343e780418f" /><Relationship Type="http://schemas.openxmlformats.org/officeDocument/2006/relationships/notesMaster" Target="/ppt/notesMasters/notesMaster1.xml" Id="R5d9a0c6d067d4f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67a95148b94ba9" /><Relationship Type="http://schemas.openxmlformats.org/officeDocument/2006/relationships/notesMaster" Target="/ppt/notesMasters/notesMaster1.xml" Id="Ra0b67db6148e42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bc3115491843c7" /><Relationship Type="http://schemas.openxmlformats.org/officeDocument/2006/relationships/notesMaster" Target="/ppt/notesMasters/notesMaster1.xml" Id="R7303abbec2fd46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d456c396cd424a" /><Relationship Type="http://schemas.openxmlformats.org/officeDocument/2006/relationships/notesMaster" Target="/ppt/notesMasters/notesMaster1.xml" Id="Rfeae5b2965f24d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8bc60c63b149bf" /><Relationship Type="http://schemas.openxmlformats.org/officeDocument/2006/relationships/notesMaster" Target="/ppt/notesMasters/notesMaster1.xml" Id="R8a1adebcccae4b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5012200dd541d6" /><Relationship Type="http://schemas.openxmlformats.org/officeDocument/2006/relationships/notesMaster" Target="/ppt/notesMasters/notesMaster1.xml" Id="Rdfecaca25c0e47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6b1804e98e44ca" /><Relationship Type="http://schemas.openxmlformats.org/officeDocument/2006/relationships/notesMaster" Target="/ppt/notesMasters/notesMaster1.xml" Id="R278cfa2ed64d48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d6978a59ea4f1a" /><Relationship Type="http://schemas.openxmlformats.org/officeDocument/2006/relationships/notesMaster" Target="/ppt/notesMasters/notesMaster1.xml" Id="Ra7066909a18c46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41ae61a80f48e8" /><Relationship Type="http://schemas.openxmlformats.org/officeDocument/2006/relationships/notesMaster" Target="/ppt/notesMasters/notesMaster1.xml" Id="Rbd8459311fc447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ddd71ca0864d25" /><Relationship Type="http://schemas.openxmlformats.org/officeDocument/2006/relationships/notesMaster" Target="/ppt/notesMasters/notesMaster1.xml" Id="R1dd51516bc1e4a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821e4877384b3a" /><Relationship Type="http://schemas.openxmlformats.org/officeDocument/2006/relationships/notesMaster" Target="/ppt/notesMasters/notesMaster1.xml" Id="Rdd6f0253e6f74e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7bac78824a41dd" /><Relationship Type="http://schemas.openxmlformats.org/officeDocument/2006/relationships/notesMaster" Target="/ppt/notesMasters/notesMaster1.xml" Id="Re4f1ed3c76ff45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6fd947da114566" /><Relationship Type="http://schemas.openxmlformats.org/officeDocument/2006/relationships/notesMaster" Target="/ppt/notesMasters/notesMaster1.xml" Id="R6acbb48e8f1149a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c3d136c7854c63" /><Relationship Type="http://schemas.openxmlformats.org/officeDocument/2006/relationships/notesMaster" Target="/ppt/notesMasters/notesMaster1.xml" Id="R09a608ba00654c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51fb3cb3c64292" /><Relationship Type="http://schemas.openxmlformats.org/officeDocument/2006/relationships/notesMaster" Target="/ppt/notesMasters/notesMaster1.xml" Id="Rd38c97ac858248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0999c76eb14d72" /><Relationship Type="http://schemas.openxmlformats.org/officeDocument/2006/relationships/notesMaster" Target="/ppt/notesMasters/notesMaster1.xml" Id="Rdd0ef6da1b4e4c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1fc2366cac4d81" /><Relationship Type="http://schemas.openxmlformats.org/officeDocument/2006/relationships/notesMaster" Target="/ppt/notesMasters/notesMaster1.xml" Id="R73034da0882741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f2d64e86d046fb" /><Relationship Type="http://schemas.openxmlformats.org/officeDocument/2006/relationships/notesMaster" Target="/ppt/notesMasters/notesMaster1.xml" Id="Rc3639f50ca2242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Built from the PP/PAE research program, the literature map, and the supplied lab seminar formatting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Strict extrapolation includes temporal, unseen-unit, and support-remote condition shifts.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Literature insight: outside support, structural assumptions drive extrapolation; physics constraints do not automatically solve long-range extrapolation under misspecification.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research questions: prior admissibility, safe execution, and assurance.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literec_study taxonomy including symbolic/equation networks, monotonic constraints, PINN, OOD, and uncertainty literature.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 ladder and executors.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Integrated Compile Execute Assure framework.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PAE typed observation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PAE routes among strong prior, PP weak prior, and prior-off pathways.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 paper boundary and central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 architecture and structural guarantees.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support-adaptive dual-scale saturation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 protocol: strict extrapolation axis, internal validation selection, and pooled/unit/seed/bound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PP final adaptive dual-scale replay. Sunwoda .934, RWTH .842, MICH .751 pooled R² 5-seed means. Retrospective development evidence, not independent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PAE falsification study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Assurance layer is currently PP-specific. General cross-executor interface is planned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roadmap and claim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 slide for iterative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bee8a9ce143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93a9895b1b4b4a" /><Relationship Type="http://schemas.openxmlformats.org/officeDocument/2006/relationships/slideLayout" Target="/ppt/slideLayouts/slideLayout1.xml" Id="Ra839dc9411414d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39dc9411414d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16c8ef7f04a4b" /><Relationship Type="http://schemas.openxmlformats.org/officeDocument/2006/relationships/notesSlide" Target="/ppt/notesSlides/notesSlide1.xml" Id="R749d6eb3957149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84bddcad04ec0" /><Relationship Type="http://schemas.openxmlformats.org/officeDocument/2006/relationships/notesSlide" Target="/ppt/notesSlides/notesSlide2.xml" Id="Raf2f38a5dbbf40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50401d7a74ef1" /><Relationship Type="http://schemas.openxmlformats.org/officeDocument/2006/relationships/notesSlide" Target="/ppt/notesSlides/notesSlide3.xml" Id="Rc42167e0d6bb46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921af35104492" /><Relationship Type="http://schemas.openxmlformats.org/officeDocument/2006/relationships/notesSlide" Target="/ppt/notesSlides/notesSlide4.xml" Id="Rca43cb65146241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14850b54b4dec" /><Relationship Type="http://schemas.openxmlformats.org/officeDocument/2006/relationships/notesSlide" Target="/ppt/notesSlides/notesSlide5.xml" Id="Re38ca67aefbf40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22265865f4948" /><Relationship Type="http://schemas.openxmlformats.org/officeDocument/2006/relationships/notesSlide" Target="/ppt/notesSlides/notesSlide6.xml" Id="R156e9817f6364a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d984973fc4a98" /><Relationship Type="http://schemas.openxmlformats.org/officeDocument/2006/relationships/notesSlide" Target="/ppt/notesSlides/notesSlide7.xml" Id="R45dbb3ae4bed4e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4388125cf45bb" /><Relationship Type="http://schemas.openxmlformats.org/officeDocument/2006/relationships/notesSlide" Target="/ppt/notesSlides/notesSlide8.xml" Id="R4769ab7d29cf4d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1e8331a2145f6" /><Relationship Type="http://schemas.openxmlformats.org/officeDocument/2006/relationships/notesSlide" Target="/ppt/notesSlides/notesSlide9.xml" Id="R86ed33cb202c43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900fdbcaf479e" /><Relationship Type="http://schemas.openxmlformats.org/officeDocument/2006/relationships/notesSlide" Target="/ppt/notesSlides/notesSlide10.xml" Id="R46741ac34a3243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27060109441de" /><Relationship Type="http://schemas.openxmlformats.org/officeDocument/2006/relationships/notesSlide" Target="/ppt/notesSlides/notesSlide11.xml" Id="R304b20aa0a1149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6ffcb01de4fd5" /><Relationship Type="http://schemas.openxmlformats.org/officeDocument/2006/relationships/notesSlide" Target="/ppt/notesSlides/notesSlide12.xml" Id="R327f80d6778746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7acc936f245b7" /><Relationship Type="http://schemas.openxmlformats.org/officeDocument/2006/relationships/notesSlide" Target="/ppt/notesSlides/notesSlide13.xml" Id="R687d293b032147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74a035e37496f" /><Relationship Type="http://schemas.openxmlformats.org/officeDocument/2006/relationships/notesSlide" Target="/ppt/notesSlides/notesSlide14.xml" Id="R6e6b9aca684746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5bb2bf16a40d6" /><Relationship Type="http://schemas.openxmlformats.org/officeDocument/2006/relationships/notesSlide" Target="/ppt/notesSlides/notesSlide15.xml" Id="Re16e4d78acc54d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0099361394624" /><Relationship Type="http://schemas.openxmlformats.org/officeDocument/2006/relationships/notesSlide" Target="/ppt/notesSlides/notesSlide16.xml" Id="R15ec31477ae047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53cc0a8f34efe" /><Relationship Type="http://schemas.openxmlformats.org/officeDocument/2006/relationships/notesSlide" Target="/ppt/notesSlides/notesSlide17.xml" Id="R7e6d8db0b35a47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7801968504705" /><Relationship Type="http://schemas.openxmlformats.org/officeDocument/2006/relationships/notesSlide" Target="/ppt/notesSlides/notesSlide18.xml" Id="Rfe856fdf73de47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4f63c1bf842d2" /><Relationship Type="http://schemas.openxmlformats.org/officeDocument/2006/relationships/notesSlide" Target="/ppt/notesSlides/notesSlide19.xml" Id="R6b2fe628e9754b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0B261-2A1D-4080-91BD-F42CD6D5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C4166-226B-4887-8AAE-B72C981C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9D3D4-04A8-46CB-B500-259F4582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6BB2F-05FD-4B1D-AD8F-11DD344C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57250"/>
            <a:ext cx="2286000" cy="2286000"/>
          </a:xfrm>
          <a:prstGeom xmlns:a="http://schemas.openxmlformats.org/drawingml/2006/main" prst="roundRect">
            <a:avLst>
              <a:gd name="adj" fmla="val 3333"/>
            </a:avLst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93011-9948-4111-9564-624F6D68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24000"/>
            <a:ext cx="2286000" cy="2286000"/>
          </a:xfrm>
          <a:prstGeom xmlns:a="http://schemas.openxmlformats.org/drawingml/2006/main" prst="roundRect">
            <a:avLst>
              <a:gd name="adj" fmla="val 3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61A5C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8216D-0C23-497C-9FC6-BCBC7837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8575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E776A-4D2A-451A-B146-E9FFB9AC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ASSUMPTION-AWARE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EXTRAPOLATION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DCD19-91BD-4A00-B1AD-5602160D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AF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D9EAF5"/>
                </a:solidFill>
                <a:latin typeface="AppleGothic"/>
                <a:ea typeface="AppleGothic"/>
                <a:cs typeface="AppleGothic"/>
              </a:rPr>
              <a:t>PP와 PAE를 연결하는 외삽 연구 프레임워크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95AB8-62E2-4BCB-973E-12954A11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D5E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B9D5E8"/>
                </a:solidFill>
                <a:latin typeface="AppleGothic"/>
                <a:ea typeface="AppleGothic"/>
                <a:cs typeface="AppleGothic"/>
              </a:rPr>
              <a:t>RUL · 열화 · 균열성장 · 상태예측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5D293-1066-4070-8601-A42CE11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Smart Production Systems Lab.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박사과정 연구 프로그램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7D8D4-8720-4CC0-A8B9-119D1B41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9D5E8"/>
                </a:solidFill>
                <a:latin typeface="AppleGothic"/>
                <a:ea typeface="AppleGothic"/>
                <a:cs typeface="AppleGothic"/>
              </a:defRPr>
            </a:pPr>
            <a:r>
              <a:rPr sz="900" b="0">
                <a:solidFill>
                  <a:srgbClr val="B9D5E8"/>
                </a:solidFill>
                <a:latin typeface="AppleGothic"/>
                <a:ea typeface="AppleGothic"/>
                <a:cs typeface="AppleGothic"/>
              </a:rPr>
              <a:t>Draft v4 · 2026</a:t>
            </a:r>
          </a:p>
        </p:txBody>
      </p:sp>
    </p:spTree>
    <p:extLst>
      <p:ext uri="{BB962C8B-B14F-4D97-AF65-F5344CB8AC3E}">
        <p14:creationId xmlns:p14="http://schemas.microsoft.com/office/powerpoint/2010/main" val="1531692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0FD83A-40B4-4EF8-BAF8-0F8FD808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95A6B-D372-4AB5-B14C-2D39E574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87F92-9A87-4E28-9EDD-352E7C8C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24C94-B5CA-4FFB-8716-58A6A6D1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발표의 큰 그림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5B70A-FE47-4C71-ABCD-F5B1EE8A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외삽의 정의에서 PP의 현재 단계와 PAE의 다음 단계까지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6EB26-834E-4E26-8503-C84D1885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333625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11D34-066E-43B0-9261-8AD010BC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BD5F1-5CDD-4184-A457-B6276B0B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526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문제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50C22-B903-4531-BEAA-1167A3EA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33675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데이터 밖의 함수는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데이터만으로 정해지지 않는다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2DC1-82A5-4B2D-9917-8437181E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2476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69D07-2AF4-4C75-BCA7-65D00E23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D7675-FBBD-4992-9586-F627E0EE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9C34E-412E-4ACD-AB0C-1B883F88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526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해결 방향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5F202-6F5E-441C-963B-7D5026ED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33675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관측 가능한 지식에 맞춰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prior의 강도를 정한다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A34DB-F2F5-4374-A88C-D0D8AAD3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2476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8D5BE-3E3B-4034-A11E-161D9D03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333625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5D336-D06C-48DD-BE4D-9657DB93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FA323-95A3-4E2B-9725-03AF2859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526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현재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702E6-4B2F-4486-ADEB-73B8326E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33675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PP로 약한 prior의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안전한 실행을 보였다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BDE33-34C5-4ECA-8C6E-8C7A8E2F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2476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79AC5-AAC8-4B1C-9C5E-3AD19ADE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2333625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16E6F-D1BB-4DEE-B76B-8A775306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D66DF-BE3E-4D7F-91A0-A6C28789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526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다음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32B5B-29C8-4854-B103-8F1668F9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33675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PAE로 prior 선택과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prior-off routing을 검증한다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7286E-A222-462E-ACC6-8FD10137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핵심 메시지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B3927-7D9D-4CC9-9A67-B33FDFEE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2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외삽은 모델 하나를 고르는 문제가 아니라, 어떤 가정을 어디까지 허용하고 실패를 어떻게 알릴지 설계하는 문제다.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4FA11-DA62-409C-8FB9-5072F5C0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18F92-8779-4A1B-AB40-0AC38502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801DDC-8221-402C-BD8B-C70E9C73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3232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A376B-67D4-4C0D-A63D-2ABE584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F00AC-CD1B-46E6-8D65-C5B123C2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6198E-5BF3-42C7-9A9B-A379C176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1B20C-C8F7-4270-AAEA-881750A5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외삽의 실제 배포 상황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EB339-F42F-4602-9C09-58699D74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시간·개체·조건의 support가 달라질 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9CE13-75EA-4FBE-A4C8-B044041E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학습 데이터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54C6A-1D88-4A09-BDC4-3E021865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52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배포 대상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75B0B-4FB7-4907-8B2C-E029E97A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918D0-26F6-4D88-89EB-6F3099F2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4E6C0-3DBF-441D-BE6A-F1BA0ECC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49655-D887-4DAB-A2D5-F353C50E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22C16-515C-4638-A8CC-9A2CBF18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7716D-97A4-4EC9-9C2F-41BBB29E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9A06A-D8EC-4FC4-BB87-A709BEF1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BC80A-AEFD-4F62-934B-246D1582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BCDB5-60DD-434F-9D44-EC2D7F85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44387-92D1-468A-A386-70D51BAC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76575"/>
            <a:ext cx="3810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3AB28-AAE4-4F14-B3E8-21D503D8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24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44536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44536"/>
                </a:solidFill>
                <a:latin typeface="AppleGothic"/>
                <a:ea typeface="AppleGothic"/>
                <a:cs typeface="AppleGothic"/>
              </a:rPr>
              <a:t>학습 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B1359-BF42-41F3-8BFB-83618FBE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57550"/>
            <a:ext cx="1762125" cy="3619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F4A26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431C1-9C42-476E-BFC4-6E7602BD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미래 시간 외삽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57177D-2DF3-4AB7-B5BE-E3DE885A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000375" cy="971550"/>
          </a:xfrm>
          <a:prstGeom xmlns:a="http://schemas.openxmlformats.org/drawingml/2006/main" prst="roundRect">
            <a:avLst>
              <a:gd name="adj" fmla="val 784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1C59D2-361E-47BA-AD84-95588967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00037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C2992-17B2-49BC-90D4-68A1A53D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새로운 unit / engine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B23E8F-E549-4DDD-96C1-FDBD66B4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학습에서 관측하지 못한 개체의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열화 궤적과 남은수명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D24ED-4B34-4B51-A4A4-7DE5D44E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000375" cy="971550"/>
          </a:xfrm>
          <a:prstGeom xmlns:a="http://schemas.openxmlformats.org/drawingml/2006/main" prst="roundRect">
            <a:avLst>
              <a:gd name="adj" fmla="val 784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07B4E-1560-44EC-869B-620C7BAD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00037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29A59E-6796-4AD7-9758-8206752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720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새 조건 / regime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17527-CFCE-482B-AFC6-5CC28DEE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530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운전 조건 또는 열화 관계가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달라진 조합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3806C1-4438-4EF6-BABB-C4C7D1D1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000375" cy="971550"/>
          </a:xfrm>
          <a:prstGeom xmlns:a="http://schemas.openxmlformats.org/drawingml/2006/main" prst="roundRect">
            <a:avLst>
              <a:gd name="adj" fmla="val 784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97CFBC-221F-49AA-B459-2A179FA1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00037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9DA878-3C4D-46B8-8BD1-1ABEE295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지원 범위 밖 조합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F5287-5743-43B4-BD40-1EE92FC0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530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convex hull·support shell 밖의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상태에서 예측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E1FE18-7CBD-4B30-919F-9D735FA1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757234-A55B-494E-9A8D-F7DD1265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4B5BD2-0F74-4E4C-BEFF-EC6EA0C1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9721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5B65E-A88C-4B72-9FC4-300902BD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8632A-6DE4-401F-9C67-30440552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8FA01-3F1A-46F5-A25A-7F546299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BA5E1-AA96-43A9-91B4-8F449024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왜 외삽이 어려운가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61F02-83CC-4687-ACCD-46D326D4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학습 support 바깥의 함수는 비식별적이다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C807C-A92F-4166-866C-6E512223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같은 학습 데이터에 맞는 함수는 많다.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7166A-2F80-4524-A772-BBBF5CAC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support 밖에서는 모델의 구조와 loss가 가진 암묵적 가정이 예측을 결정한다.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24EE0-E86A-4290-AE1E-AF123414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4762500" cy="2076450"/>
          </a:xfrm>
          <a:prstGeom xmlns:a="http://schemas.openxmlformats.org/drawingml/2006/main" prst="roundRect">
            <a:avLst>
              <a:gd name="adj" fmla="val 3670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D74A8-BA35-4923-834B-5B218332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일반 NN의 한계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52556-42DB-425E-9B04-440B9E5F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861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B0717-B985-485F-BA81-A5882D77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195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유연한 residual이 밖에서도 계속 커질 수 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84CCA-D9B4-41EA-BE1F-791F681A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14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50035-E567-4897-ACD6-623AD9B4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0481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높은 ID 성능이 외삽의 근거가 되지 않는다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C8B92-D89E-437A-A8DB-A2B8C14E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762500" cy="2076450"/>
          </a:xfrm>
          <a:prstGeom xmlns:a="http://schemas.openxmlformats.org/drawingml/2006/main" prst="roundRect">
            <a:avLst>
              <a:gd name="adj" fmla="val 3670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DABD0-BAF5-4A93-85F8-09935AD8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강한 물리·수식 prior의 한계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17A53-4D94-459F-9C83-69B07886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861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67674-7D2A-498C-8D6A-726EA396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195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식이 틀리면 외삽 편향도 강해진다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6CE94-C8BE-4376-A6AA-BBDDB14C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10EE6-E595-43C8-8750-50A71919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481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관측하지 못한 regime 변화에 취약할 수 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26FBC-8DD2-4ACB-98B2-E7483BCB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768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따라서 “prior를 넣을지”보다 “현재 관측으로 어느 prior까지 정당화되는지”가 먼저다.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BA66C-3B14-4E48-8C3F-C4E87896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38E7C-A85F-4D15-BDBB-6D403C59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A0691-5303-46A1-9808-F15599E2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9760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4DD20-11A3-471C-BB72-110BB5DF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32D97-03A2-43E7-8856-F2B77EF6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882B8-8DF5-4014-B404-EA3828C6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4D5F2-DA81-4531-BBD9-C8F5F2C4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연구 질문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B3B04-1CA4-4252-ACD9-15F52CA0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가정을 명시하고 관리하는 외삽 시스템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87EB7-73C0-4683-B42A-DEEF0E7E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관측된 데이터와 도메인 지식으로 정당화할 수 있는 가정만 사용해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03C7B-36BB-475D-BB00-3DFDD1CC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외삽을 안전하게 실행하고, 근거가 부족하면 불확실성 또는 보류로 보고할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5D92D-BECC-4EC0-956B-2A54358A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2809875" cy="1314450"/>
          </a:xfrm>
          <a:prstGeom xmlns:a="http://schemas.openxmlformats.org/drawingml/2006/main" prst="roundRect">
            <a:avLst>
              <a:gd name="adj" fmla="val 5797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6CC64-FA9A-455E-9DE5-BBD6DB7A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6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BFC1B-922A-4122-A2C2-452D3D8B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0052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45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무엇을 prior로 써도 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496B7-E782-46B2-8C09-8D3D9758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958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PAE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B2277-E17E-4D0F-B06D-E30A33C5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809875" cy="1314450"/>
          </a:xfrm>
          <a:prstGeom xmlns:a="http://schemas.openxmlformats.org/drawingml/2006/main" prst="roundRect">
            <a:avLst>
              <a:gd name="adj" fmla="val 5797"/>
            </a:avLst>
          </a:prstGeom>
          <a:ln xmlns:a="http://schemas.openxmlformats.org/drawingml/2006/main" w="9525">
            <a:solidFill>
              <a:srgbClr val="2A9D8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69ABF-84C3-49EA-B74D-58A7686A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76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5F7FC-1091-4400-9EA2-075759B8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0052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3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허용된 prior를 NN과 어떻게 결합하는가?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6E95C-B5BE-47F5-8F5F-A8A0B8EB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958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9D8F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A9D8F"/>
                </a:solidFill>
                <a:latin typeface="AppleGothic"/>
                <a:ea typeface="AppleGothic"/>
                <a:cs typeface="AppleGothic"/>
              </a:rPr>
              <a:t>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E8A35-039A-481A-B62E-45125725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2809875" cy="1314450"/>
          </a:xfrm>
          <a:prstGeom xmlns:a="http://schemas.openxmlformats.org/drawingml/2006/main" prst="roundRect">
            <a:avLst>
              <a:gd name="adj" fmla="val 5797"/>
            </a:avLst>
          </a:prstGeom>
          <a:ln xmlns:a="http://schemas.openxmlformats.org/drawingml/2006/main" w="9525">
            <a:solidFill>
              <a:srgbClr val="163A5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FBBF0-2F90-4F6D-AD53-59BAE3FE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76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649E3-405D-477D-8D38-78D2963B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0052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3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어떤 외삽 예측을 믿거나 보류할 것인가?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E0369-CF61-4DE9-A8A5-19617C81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958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Assurance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AD4E5-07DF-44E0-BADE-817450F6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C3AAE-FE72-40A7-A9BF-8B6BBE9C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28F29-4929-4002-8D1E-200EBD66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4249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5E302E-ACB8-4869-8B46-FD5CC04A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09964-2973-4660-86D4-AF4F752C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8B949-5E93-4001-B528-F36B86E0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1CC20-0388-4A2F-9519-23C1255D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문헌에서 얻는 출발점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51129-EB6D-44FA-814F-2D1BFCF0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외삽을 지탱하는 것은 데이터보다 가정이다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C67D0-C463-472F-B81A-5358AC60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4B6B5-B75F-45C8-8F4B-D4E64246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Symbolic / equation NN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F4753-B481-4922-9B58-CBB62F04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알고 있는 식·연산 구조를 표현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63E3A-A12D-492E-A66A-407B2650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알고 있는 수식 관계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326E4-E3FC-4352-B067-EC6F3A13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4E34B-ADB9-47F0-802B-9234588C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34B49-2827-4448-8ADA-F2662DFC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Monotone / constrained NN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5CAD4-DC0B-4CAF-A674-D2AD5483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방향·부호·순서를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03A5C-5D5C-4C17-AE47-11D45EC5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질적 구조 지식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A96E3-0DDA-40C8-8CFE-3B288E84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6CB01-6F4D-4B13-A660-CF07BDE4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31D9D-C731-49C2-8738-125DF880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PINN / physics hybrid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8B378C-83FD-44A8-8BD0-D9F49FF0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지배식·보존식을 결합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E8E55-6FE9-4787-9E5D-5B18106D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정량 물리 지식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75265-4C7A-4E38-B55D-2BD24349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81724-C89F-4799-8F68-F8D9E1DE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7390CE-8505-46F6-B913-0E1C11A0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OOD / uncertainty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3BAF6-34DB-4EC9-BD6D-65C3AE8F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52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shift와 위험을 진단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736CC-FF3D-462D-9F58-89C516D9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환경·불확실성 정보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07580D-D053-4573-A9FE-EA156998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9585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2BA6B0-DF69-406D-B8D8-2FA683D8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본 연구의 빈칸: prior의 존재 여부와 강도를 관측 계약에 따라 선택하고, 약한 prior를 안정적으로 실행하는 통합 절차.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9AE22-D093-4FA0-9D0D-FC22147E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19D224-3B4E-4088-A968-4FD0DA51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3EDD7-0670-4139-8392-1C76B4B6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8732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75CC9-9058-461D-A2C1-F8ACA64E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CAF23-FCDE-499C-981B-6A94DF97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4B011-1D8B-4A2D-B1C7-0393B6E8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AC243-15A8-45F4-A1AC-AA876069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Prior ladder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0EE77-257C-48FB-B360-C1B1082E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수식은 가장 강한 prior일 뿐이다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82D6C-0A28-4363-B887-6B47E353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D9D3F-A9E3-4FEA-A933-CDA79881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954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0F525-8100-47FA-BFFB-E12C7CE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09750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구조 지식 없음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58BC3-B6D9-45F2-9FAB-B54E6FFE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383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prior-off NN + uncertainty / abstain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C715C-3F29-4239-B43A-6D2FAEF6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463C3-5043-4EF8-BEE1-633643F6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53CE3-31E1-49C8-93A7-23CA57B6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479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E3476-F1A6-40CF-AAD7-F73ABFB4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62250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경계·범위·이력·support 거리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3BD87-93B8-4D1A-8469-B9F89D4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08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PP: weak-prior executor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21C3E-D7D4-43A5-95DB-664C8B72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194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97ED6-E324-4E6F-A8AC-7A94C92A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1CD54-DF57-4225-A9EA-2D247865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004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AD964-95D6-4651-A322-3C383908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14750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단조 방향·부호·부분 순서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45624-46EE-4663-B6DC-E382450F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433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constrained predictor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A02CD-7915-4023-9170-66652834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71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8C755-F4B5-4FC8-9E45-7CC2AD14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D20EE-4BAA-4F39-B1BB-8BFAD3A4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529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7CC729-1E0A-4960-BE58-D50EF976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관계식·보존식·동역학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B414CB-A453-47EB-8A0F-AAF0CF61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958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physics / equation residual hybrid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FF2485-70B2-4386-B44C-FA5EC692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244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71D6D8-F30B-40D7-936F-D0F9D432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62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안전장치: 근거 없는 도메인에서는 임의의 식을 넣지 않고 prior-off 경로를 선택한다.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59BBB2-640A-499A-8956-42EB5FB6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9D5C0E-66E6-4A3E-8B1A-29CADEF4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0F70F1-394A-4BE5-B510-9FE2D041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3748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FE1325-1D5A-498C-A1BA-2BF0A3F4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F4E9F-38B5-448B-8C10-AF733266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EA21A-E615-4C8E-A41E-29F23207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EAD45-C485-4C22-B7C0-DA55566C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가정 인지형 외삽 프레임워크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ECF89-48BA-49A9-90F7-8FC04284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Compile → Execute → Assure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4BEC2-510C-4CCF-86C7-95C9B997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7C4A1-8696-464F-8265-CCC98349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42744-1BB2-4E77-B5AD-3179714D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1. Compile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6C13A-D3A9-4424-AE7E-CD757380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00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관측 계약에서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허용 prior를 컴파일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06D5D-8685-4C3D-9204-894868F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2BC81-D1FC-4ED8-BD4A-6AE751DA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3812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42C20-47CE-430E-9DD6-2FB32CDA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2. Execute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86838-8554-4522-A99B-F259E695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00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선택 prior에 맞는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예측기를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7B968-6C5B-4EC5-B904-E041FF76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1C792-9D53-408D-947F-6190793D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23812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B66A9-4E24-4124-BDEE-2117C4D7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3. Assure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F6618-FFB2-4D38-A661-17B9AB47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거리·오차·불확실성으로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신뢰도와 보류를 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7BAF7-9241-4011-AEF3-4DE7579E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09850"/>
            <a:ext cx="4953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AFD41-1087-48DB-B356-EACC1B6C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09850"/>
            <a:ext cx="4953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25777-2242-4564-B6B7-0ECBAC7E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66484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E7755-C182-46A3-AD01-BB8BD53E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14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1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출력 contract  |  point prediction  ·  selected prior level  ·  applicability signal  ·  predict / abstain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82DD7-1206-40D9-85ED-D13A1C5A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88B3B-5BD6-44F3-9127-1CFB69C7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D0302-8405-4F60-AFCA-94325B9A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01106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C34944-BF4F-4493-B529-598E522D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1B374-73C2-4B66-BDEA-5AA23278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1D776-A801-40FD-A9A9-2382691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C66DF-6005-42F0-9A59-D4656FA9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PAE의 관측 계약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4E5D1-D6B7-461C-8D12-33647689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모델이 볼 수 있는 것과 알 수 있는 것을 명시한다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371DC-3A88-436D-9B6E-C9D916E8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DA4A7-877E-44BA-BBC5-A8313CC1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56E88-AE36-4553-A197-FCBE3179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covariates, 시간 순서, window, 결측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A41C5-EBFB-4C4F-9C62-80A0E89F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6217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C301B-0B51-4F21-86AA-7467E4AF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3112E-E680-4FBA-92C2-1CD2D509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622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라벨·경계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26180-BEB5-40CD-A905-EE163380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RUL, EOL, range, training/deployment availability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734AE-9924-4DC4-A2FA-78F4BF70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956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53938-D6E2-410B-A741-8FACB16B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8EBBB-FB71-48C3-8353-EB94F713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메타데이터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E53FF-2996-4523-A63F-00528DD9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unit, domain, 조건, regime indicator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86269-ACD1-41AA-8005-6634AFB8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2902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13A23-B738-48A8-838B-D2505076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3DFB8-C9DA-4A78-8504-19A19CA3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29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도메인 지식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EDFA8-3878-463C-A040-752A3ED7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909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단조 방향, 부호, 관계식, 보존식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24729-CE3E-4EDF-8AC6-146C9914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EA689-0585-4B3A-8D6E-CF73D091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4E177-7B95-430D-80C2-A8C3F6D6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배포 shift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90C53-F656-4D91-A042-6D42AF53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시간 끝단, unseen unit, condition/hull shift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91844-D425-4929-9CB1-5E08F8C4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9587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58E4F-701B-4ED0-86A3-4DF954D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44536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C44536"/>
                </a:solidFill>
                <a:latin typeface="AppleGothic"/>
                <a:ea typeface="AppleGothic"/>
                <a:cs typeface="AppleGothic"/>
              </a:rPr>
              <a:t>이 계약은 test label이나 미래에 접근할 수 없는 정보를 prior 선택에 쓰지 못하게 막는다.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4E38FD-46A2-425F-A971-6C8ED8DA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CD8C8F-FDFF-460D-9E22-9C413E7E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2FB41-1727-4B19-9BEA-DE91C537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54671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6B5F6B-C820-4D7A-856D-95A0ADD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86C80-1193-4780-A1E8-B873295D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5F826-3999-4459-9E30-868F1D5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00981-C9B4-4998-A818-058EAF15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 routing 원리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BA6FB-E9F8-472A-B80D-3BD0AE2F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prior의 강도와 executor를 함께 선택한다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027DE-3184-4D07-837D-D9044DD4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63615-A8B6-41B6-870F-56DFAF4E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5717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7670E-277E-4C25-80E8-804BC3D6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관측 계약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08A17-E389-48F5-8F95-DD5B789E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어떤 정보가 실제로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available한가?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F4F39-0EF0-48DA-9914-FC93D123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19350"/>
            <a:ext cx="47625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3D9CE-3814-4C6E-9139-3A8AD256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28800"/>
            <a:ext cx="2857500" cy="1581150"/>
          </a:xfrm>
          <a:prstGeom xmlns:a="http://schemas.openxmlformats.org/drawingml/2006/main" prst="roundRect">
            <a:avLst>
              <a:gd name="adj" fmla="val 4819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C935D-A156-46AD-A94C-EBA21F4B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Admissible prior?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40E50-F9FC-4157-9ED6-8346218D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336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강한 식 / 질적 제약 /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약한 경계·이력 /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3842E-8FF9-4301-A4E2-191F4A8D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419350"/>
            <a:ext cx="47625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51A90-6694-4211-937D-77A0FA75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85750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F3D50-11AD-4739-B9D7-5EBDE87E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C6693-BFEA-41E7-93F4-B4F07CF1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강한 prior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42E6DA-EAA4-45F1-8350-8CDC2658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2476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physics/equation hybrid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1FF84-1F94-4516-9F66-3FE89FEB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285750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26494-EA58-4CFF-B7BD-47C6D407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9ACA59-2492-438D-AAEA-DB8C0A52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289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약한 prior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3CE70-7D90-4D24-AAD3-4D96C6F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9925"/>
            <a:ext cx="2476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PP executor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F82ECC-8C2D-4B16-B77F-9EF1B5D9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BC658B-EB4C-4CF2-B49B-99463DAC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7C0EF3-7157-4496-9D9A-115E86F2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prior 없음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79CA2B-5AC1-4B21-B128-314D56A0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0050"/>
            <a:ext cx="2476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prior-off + UQ/abstain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53B857-49CA-49C6-82FF-1860BE1B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6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PAE는 참 물리식을 “발견”한다고 주장하지 않는다. 관측이 뒷받침하는 선택지만 허용한다.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4BA66-952F-4E42-BB96-D56C429D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60902E-9F39-4934-B48F-CCF50234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3F077B-113B-48D7-9D9D-1A14551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38179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14991-486F-41A0-9508-EC48E2D8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D3CC4-DBA4-4351-BFC9-93204F9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BECA-4510-45D9-A0DB-C70C5F35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66801-8F3C-4B52-941F-9B9E16F4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PP: 첫 번째 독립 논문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C471C-CC71-48CD-8018-5D85BB11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주어진 약한 prior를 외삽에서 안전하게 실행할 수 있는가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D05D8-98FC-4929-AF83-2C3546B7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Input prior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2C905-A4BD-4960-BD36-94FE1C4C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EOL 경계 · 양수성 · 이력 · 약한 affine tail · support 거리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51CBE-FCF7-4A68-9BCD-A4A41905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498F8-EDBB-4543-B7BD-4FBE5BE9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A9D8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A9D8F"/>
                </a:solidFill>
                <a:latin typeface="AppleGothic"/>
                <a:ea typeface="AppleGothic"/>
                <a:cs typeface="AppleGothic"/>
              </a:rPr>
              <a:t>PP의 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18EF2-D34A-4EF3-89DF-487987BF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NN residual이 boundary와 tail을 뒤집지 않도록 표현력과 외삽 영향 범위를 분리한다.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2DE21-E71A-4850-96A8-145D4824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00550"/>
            <a:ext cx="971550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8B934-E9AD-4160-9E27-B6E9C658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81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논문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69F54-1127-4AA0-B783-66075892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6247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9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선언된 weak prior 아래에서 strict out-of-support RUL extrapolation을 위한 support-adaptive prior-residual executor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B0307-ED12-4229-9CD3-937F8A43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1EAC3-DC5A-4894-866E-11D0C08A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0521B-7A49-4B2E-AEFE-3B62E95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527331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E0BF86-92B8-48E2-AA7F-4B2CF8D5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F77E2-1B93-4A5B-B2FE-E5443005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C7421-3CCA-4E41-8721-1E6FD4C1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ADDB5-2B6B-4F36-B2EA-4FD46EA3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PP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038BE-912E-4A5D-B676-7D2380C5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고정된 tail과 bounded residual을 결합한다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DCB83-BD0F-4C9C-90CB-B95ED77D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668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ŷ = m · softplus( ℓ(z) + cθ(z) 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ACB10-7836-43BE-A76F-BC379DF5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BCC90-3D80-4F0B-ABCB-B77177D5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8DE29-52EB-4AC0-A376-5DA01016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ℓ(z)  frozen affine 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23E7D-9B6A-4AB8-8691-F9513A39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외삽 방향의 기본 경향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B23C1-73AE-4ACF-A417-096D3D92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86125"/>
            <a:ext cx="381000" cy="257175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DB9A3-E3EF-483E-A8F9-E83D2331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8A381-ECF9-405A-B905-09001A5C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6E508-86F6-4A07-877B-7CE9538B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71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cθ(z)  history residual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542B3-3BEA-4F5A-8E6D-AF031551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support 내부의 세밀한 보정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71F4B-CF29-437B-AE42-69185343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86125"/>
            <a:ext cx="381000" cy="257175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40C24-6060-4BF7-95B9-72158E90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F8F6A-84D2-40E1-8143-9EFCA5C2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395AB-646C-4BC4-8C30-4E87CFB6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m  boundary margin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284BE-861D-43C2-8FFC-D65FDB92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EOL과 residual envelope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4CC12-86BF-47EC-B2A9-AC569C06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구조적 보장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C4AD4-F24E-4915-BE8C-048E011A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57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FB7A7-39CC-4B28-8631-EDF18CD0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9112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EOL 경계 보존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7EEDF-73ED-416A-8C29-5F72823E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57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8A02C-F6DC-44CC-BB7E-D296BBE6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9112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residual 크기 제한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B1B29-2501-4ED9-9DAA-145EA993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05CC26-A310-447F-8DF7-AE67A3F6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911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support 거리 기반 완화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22DF9-60F6-4397-B806-16425D50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756340-7619-47D2-8ADF-5E52D213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2D31A6-A346-4B64-B12A-AB59F30D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912162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103FD6-3E0F-4856-8315-54ED63A5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32606-C673-4000-A675-AA785BB5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46029-E3F1-455F-BDE1-A1909222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0FCB3-C055-4436-86BF-1CC2D7EA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Support-adaptive residual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15C32-FA78-494C-B6EE-D8A9DEB5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가까운 곳에서는 세밀하게, 먼 곳에서는 포화시킨다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4AB80-B135-4FCF-A4C7-5E779BCD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295D1-54F5-4403-A63E-F1AB00D6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A3FDE-874F-427C-AC4D-694653F5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residual 영향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B4500-F746-4B1F-B1F0-3BC8AD6B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006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support 거리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3095D-37DD-442E-AB45-0ACFC6F9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4E991-9F11-4E5C-A829-BFF5C1D7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A68A5-5746-4317-B522-78159F18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95ED0-DC34-4071-95F3-C9FFD72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7217A-CB2A-4178-AD0C-24AA0DC3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81F13-ECDE-4CE1-8275-61528B97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DE74B-8710-49C3-8418-41CFFA5B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38100" cy="28575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8EE0D-2CA0-4D13-B26A-E98786D7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전환점 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A28C3-E889-4CAC-A5FD-71C54683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9D8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90197-B878-40C4-B721-5706A02A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26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192FD-C1DA-489D-BCE2-AB85E36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26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3B6A0-FD45-4201-A36C-E3469F49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43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8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A9D8F"/>
                </a:solidFill>
                <a:latin typeface="AppleGothic"/>
                <a:ea typeface="AppleGothic"/>
                <a:cs typeface="AppleGothic"/>
              </a:rPr>
              <a:t>작은 Bₗ: history 보정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6AE30-531B-4F45-9C94-1701F898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큰 Bₕ: bounded saturation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E6CFF-C026-4653-ADF7-5AD2F826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81625"/>
            <a:ext cx="9334500" cy="495300"/>
          </a:xfrm>
          <a:prstGeom xmlns:a="http://schemas.openxmlformats.org/drawingml/2006/main" prst="roundRect">
            <a:avLst>
              <a:gd name="adj" fmla="val 15385"/>
            </a:avLst>
          </a:prstGeom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DF1DE1-AB01-4F6C-A5A7-F6FD952C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support에서 멀어질수록 residual이 affine path를 무제한으로 덮어쓰지 못하게 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A1BAB-C44C-40BF-ABE3-D9309090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DF0B89-5F79-4211-AE07-CAC8520D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8A006-E5D1-4B35-9E74-B0223E0A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779450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8BB9D-A334-4597-B2A7-7512B691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0349E-A6BC-4B38-AD54-2979EC97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BBEA9-3088-4F3C-B2A7-5817538A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2C8AC-3EEC-417A-819A-CA6BA2C1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PP 검증 프로토콜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4D759-6973-45B5-B2AF-8CA5D29F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일반 random split보다 외삽 축을 먼저 고정한다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12739-9559-4D71-B7F4-CF99F32E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23600-6C35-4B71-B21C-47051017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AD674-2138-4115-A141-F68C9947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분할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D2981-981F-46BB-BDCA-768895D0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90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시간 끝단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새 unit/engine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조건·support shell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82539-CC7E-4E38-9684-13F708A8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22860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E9C8C-8F7C-4566-8296-50B56EBA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2860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68305-F24C-4092-8CF4-5007B052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2860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B9C7D-776B-4059-A2F8-46289F06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C4F05-C9EA-43F4-AA11-1FC51990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81300"/>
            <a:ext cx="190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train 내부 validation으로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구조와 hyperparameter 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0A542-94CE-4869-A825-770D767A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857500"/>
            <a:ext cx="22860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8E743-8FC3-4766-B45D-81ABFC6E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2860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6FD20-2E12-4176-8BD6-761FCC1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2860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98744-7C43-457C-9A68-8CE9AF2A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보고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8E0B0-032D-4691-AC7A-403D02E6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190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pooled R²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unit coverage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seed robustness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FE92D-C38E-4959-971F-34D1444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2860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D22B0-C183-41CA-9F5D-84C0B25D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22860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01893-6110-4E61-8E62-F5CDA63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22860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3D861-869A-4F76-A4ED-DCA0CB0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안전성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17567-1B21-4EA3-A6C0-261E8F58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81300"/>
            <a:ext cx="190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boundary·residual bound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violation count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7A09A-325F-4F89-BEA4-69EEFA03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44536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C44536"/>
                </a:solidFill>
                <a:latin typeface="AppleGothic"/>
                <a:ea typeface="AppleGothic"/>
                <a:cs typeface="AppleGothic"/>
              </a:rPr>
              <a:t>원칙: test label은 모델 선택이나 gate calibration에 사용하지 않는다.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A4D4ED-6E28-451A-9A4C-E1DAF777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E0F0D7-EA87-431A-A595-C54F32F6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D8D70F-92FE-4288-98D5-52FDAC88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180597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C643E-147E-4E5F-AC97-D31ADB07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9D85C-D5F4-4EC3-8482-DB47E668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A80DA-70AD-4D38-83EC-55A7970A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C8C3E-685D-4A4F-8518-9CD1261A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PP 현재 근거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C9A45-4091-47EB-A6A4-69948A86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개발 데이터에서 안정적 후보가 되었는지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63B26-6E34-4542-821C-FAAC15B4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7622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F2705-52DE-4C84-8A87-84BF942C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76225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E22D6-8F32-450A-B97D-9D7CABE5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Sunwoda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480ED-1CEC-4A6F-BED2-4E063BE0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25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A9D8F"/>
                </a:solidFill>
                <a:latin typeface="AppleGothic"/>
                <a:ea typeface="AppleGothic"/>
                <a:cs typeface="AppleGothic"/>
              </a:defRPr>
            </a:pPr>
            <a:r>
              <a:rPr sz="2925" b="1">
                <a:solidFill>
                  <a:srgbClr val="2A9D8F"/>
                </a:solidFill>
                <a:latin typeface="AppleGothic"/>
                <a:ea typeface="AppleGothic"/>
                <a:cs typeface="AppleGothic"/>
              </a:rPr>
              <a:t>0.934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B2E03-947E-4A20-A9F9-1AD774A6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pooled R² · 5-seed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DA1E4-7462-49F7-A25F-C72476A0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7622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394DA-92F5-4768-8838-F70CEF51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76225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D1BBF-7388-4391-A16D-052301C2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RWTH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E39C6-B6F2-439C-8C03-AA90A342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25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2925" b="1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0.842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CCDDD-228E-4243-8BFA-95B9B52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pooled R² · 5-seed mean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78B1A-2BA4-48C4-9B5C-97B7D2F2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27622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95266-AD2F-452F-AD60-B139857F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276225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A0C67-11A5-4EDD-94C7-749A0504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MICH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E8D05-B1CB-496E-A5AB-53211B00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25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2925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0.751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7F45B-FD4E-4639-8D8C-F19A8F08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pooled R² · 5-seed mean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EFC62-89B5-429E-97A8-F90255A5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38225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87912-716C-499F-9957-103D9C56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386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추가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0A57D-65A3-40AA-B924-6A51B041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291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MICH 8개 unit 모두 pooled R² &gt; 0     |     17,645개 예측에서 boundary/residual bound 위반 0건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47EC9-A3F2-488E-8E8E-0D3E7590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4536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44536"/>
                </a:solidFill>
                <a:latin typeface="AppleGothic"/>
                <a:ea typeface="AppleGothic"/>
                <a:cs typeface="AppleGothic"/>
              </a:rPr>
              <a:t>해석: 현재 결과는 개발 근거다. 논문에서는 구조 고정 뒤 독립 cohort 결과를 별도 증거로 제시한다.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AE7BBE-02AA-4528-9525-6AB67A4D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3648A3-A008-4901-A5E4-143C8E23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C45650-4B64-4FFD-84BF-08787E8E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08111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A912BB-513F-4EB8-B2F7-71AACA3B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9E076-7409-4647-BD69-51EDFB3A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99B58-912B-4489-8BF1-929EB6CA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68524-6474-43CE-A729-0BEAE6CB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PAE의 핵심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FE020-87A1-466C-A668-E63E2074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prior를 고르는 것이 실제로 손해를 줄이는가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B0765-0CAB-4383-8E71-EBB12A2F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B26E0-A294-4A95-803F-2752BF0D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1907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7CC79-1799-4C7E-AAEE-D98BA492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Correct prior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4569E-29E4-4A47-A084-0153B260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적절한 prior가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성능·안정성을 높이는가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D3B8B-F438-4CCD-8672-72CED35B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52750"/>
            <a:ext cx="2095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25460-9C3E-4B5F-902D-277EB464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1B496-686A-4719-85D4-809B114F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1907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A8F67-DD6D-4DBE-9841-03A214D0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43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Wrong prior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A20C5-63E7-4E3B-8B6A-2CF19901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241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틀린 prior가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얼마나 해로운가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50818-CC62-4C70-A2D5-BCB60BC3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52750"/>
            <a:ext cx="2095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1653A-E347-4D86-BC8F-88679181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336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5A5A1-EA8D-4BCC-963C-9333D2DB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33625"/>
            <a:ext cx="21907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E14AB-7D53-40AF-8233-35973AE9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43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Prior-off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E9FD3-566A-4BF7-B870-E0728B00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241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근거가 없을 때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안전한 baseline인가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875E8-65DA-4EBD-B9CB-5364BD4B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2095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DE0FA4-F896-4E74-BF84-BEFDD5E9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3336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62080-CE84-4D70-8BE8-DAE6C8EE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333625"/>
            <a:ext cx="21907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043771-C7B0-41F5-A01D-BFC82E40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43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 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9F2CA-EFD7-4852-93D8-4215BD2A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9241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선택 오류를 줄이고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손해를 제한하는가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E1572E-2992-479F-992F-5CCE1600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필수 ablation: 동일 split에서 correct / deliberately wrong / prior-off / PAE-selected를 비교한다.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F5ADC-6DD6-46E1-AFA3-7B28762F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49A27C-B37A-4D98-9F1E-CCF84D30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87023-91B7-44A7-AD94-7BA0DD67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01490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BEC62C-3BFA-4138-9BEA-EF45B8ED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4FC69-87EF-4656-BB1E-9CA3F59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A0F2E-2134-473E-BB2D-DC61CFF8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04744-FEDB-417C-BD80-27116A7A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Assurance 계층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C6F8E-AD5A-4481-8643-E047785B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점 예측과 함께 적용 가능성·위험을 보고한다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5F954-98D6-4B4A-B362-019722E7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3F2AB-5F89-4FB8-AA31-840F842E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Support geometry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60158-CCE5-4096-90BC-C67B373F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240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hull/shell 거리, 역사적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AD714-42E5-4D1C-BDF3-44911C23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DB5D6-731B-419D-BCE8-449342C7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Validation error transport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7B4F2-847B-4035-A17C-EB7A9EE4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validation shell 오차가 test shell에서도 전달되는가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7964E-CD79-4067-B30A-D9F02805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4C625-8AE1-4906-A3C1-01998DA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Uncertainty / disagreement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5C3E9-B9F0-4B5E-A872-7FDB2306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290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불안정 residual을 감쇠하거나 보류하는가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62D7C-50E5-4288-B6ED-02760A07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04B9D-B082-4AED-B3BB-4AA7572F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Prediction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52230-36B4-4695-8C8A-8452F42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9875"/>
            <a:ext cx="209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point prediction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selected prior level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applicability signal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uncertainty / risk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predict or abstain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35CF7-4E19-46CC-953B-87D75C44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현재 PP에서 구현한 geometry·validation 검증을 여러 executor가 공유할 보증 interface로 확장한다.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8BF4A-CBA3-4B16-8F9F-C3C1CF3F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B619F-AC0E-41D1-81D4-21F19809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CD474A-7402-4473-957B-762C3998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751106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2D0C67-AA6D-4D66-AE81-C10DCE3F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C5084-B845-4DC0-BAA9-EEDD2E05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2FBD0-AD1F-4123-9EE3-E036D935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65C94-B566-4BA8-AD06-7C546CB0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논문과 박사과정 로드맵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EA2DC-A931-43EB-9067-4E285677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PP와 PAE는 별도 논문으로, 통합은 박사과정의 큰 이야기로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9325F-5BB0-4801-8731-498E4D6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95275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9525">
            <a:solidFill>
              <a:srgbClr val="2A9D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DAB68-0033-47F1-92DA-CFC82445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95275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24F95-2922-44F1-A763-61AAD934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현재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90B9E-A470-40F3-825F-F2AE50C3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PP paper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FE8E1-BCD3-4E24-8170-351EDD38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weak prior executor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strict RUL extrapolation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structure·protocol 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55CC1-AB0E-40A7-B246-F868D047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48000"/>
            <a:ext cx="428625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DE586-8E8E-4D84-8DD6-93F2532E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95275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4736C-15F5-4D5B-A247-2B5F700D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95275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43689-A3E1-43D5-9461-EFAA195E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18F9B-B249-403D-BB1C-DDC942A8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 paper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66A81-A51F-450E-93A8-614297D5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typed contract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 compilation·routing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wrong-prior ablation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18948-F786-44A1-828D-FAE29797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48000"/>
            <a:ext cx="428625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E7B6E-8F72-4422-ADE7-79DDA961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95275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9525">
            <a:solidFill>
              <a:srgbClr val="163A5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ED8FF-0911-4B88-9AC4-DBA23AFC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95275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1BA28-3E81-4600-936A-81DA5C2B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통합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03E41-DEF2-4FB9-A04C-96879C74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Dissertation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F97EE-C3CB-4947-879C-B02FBFC3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500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compile → execute → assure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교차 도메인·regime 변화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selective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85593-624C-4AEE-9556-07F73A56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통합 claim: prior를 숨기지 않고, 관측으로 정당화되는 수준만 사용하며, 적용 범위와 실패 신호를 함께 보고한다.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54763-7023-41D8-855A-ADE2C389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5CAE84-AB2B-4594-91F3-E65321A0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365FB9-CCD7-487F-AB81-CE868428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647120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7B8FD-F9AE-42EF-BA5A-534D5B46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DD4FF-CF6F-457F-BB31-F770C3B6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C74F4-D6B0-467A-86F7-B98DCC2C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6E65F-C41B-453E-ADE3-C0DBD310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9D5E8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B9D5E8"/>
                </a:solidFill>
                <a:latin typeface="AppleGothic"/>
                <a:ea typeface="AppleGothic"/>
                <a:cs typeface="AppleGothic"/>
              </a:rPr>
              <a:t>이번 초안에서 먼저 정할 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973B9-6E70-4A86-BC4E-E39063DF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2DCCC-D1EB-4371-A4C5-210E2B9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A8BAC-83A4-4607-9547-04C4B2DB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670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PP 논문의 중심 도메인·데이터셋·strict extrapolation protocol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DC578-E195-48AC-B556-2F552EF3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433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B1102-40A7-4750-9336-33C72F3D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FAC9E-F411-439C-927C-5D89C027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PAE observation contract에서 허용할 prior의 구체적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F790C-4FF0-49EE-AD81-236D1D35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D2544-D08F-42F8-88B4-13C39E2E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6E271-6949-4E5D-8879-6378FEA8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86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박사논문에서 추가할 domain과 regime-shift 실험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F3B1C-AC6B-4B9E-969D-E93D3411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149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E1A90-6214-492F-B7C7-26638487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AD834-49A0-4C0F-8E2C-455E5347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244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independent cohort를 확보할 시점과 proof protocol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ABBEB-7454-4963-BAEF-92CB96F5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D5E8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B9D5E8"/>
                </a:solidFill>
                <a:latin typeface="AppleGothic"/>
                <a:ea typeface="AppleGothic"/>
                <a:cs typeface="AppleGothic"/>
              </a:rPr>
              <a:t>Smart Production Systems Lab.</a:t>
            </a:r>
          </a:p>
        </p:txBody>
      </p:sp>
    </p:spTree>
    <p:extLst>
      <p:ext uri="{BB962C8B-B14F-4D97-AF65-F5344CB8AC3E}">
        <p14:creationId xmlns:p14="http://schemas.microsoft.com/office/powerpoint/2010/main" val="1102095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2026-09-07T09:25:31.7480000Z</dcterms:created>
  <dcterms:modified xsi:type="dcterms:W3CDTF">2026-09-07T09:25:31.7480000Z</dcterms:modified>
</coreProperties>
</file>